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x="18288000" cy="10287000"/>
  <p:notesSz cx="6858000" cy="9144000"/>
  <p:embeddedFontLst>
    <p:embeddedFont>
      <p:font typeface="Prompt" charset="1" panose="00000500000000000000"/>
      <p:regular r:id="rId33"/>
    </p:embeddedFont>
    <p:embeddedFont>
      <p:font typeface="Anton" charset="1" panose="00000500000000000000"/>
      <p:regular r:id="rId34"/>
    </p:embeddedFont>
    <p:embeddedFont>
      <p:font typeface="Prompt Semi-Bold" charset="1" panose="00000700000000000000"/>
      <p:regular r:id="rId35"/>
    </p:embeddedFont>
    <p:embeddedFont>
      <p:font typeface="HK Grotesk Bold" charset="1" panose="00000800000000000000"/>
      <p:regular r:id="rId36"/>
    </p:embeddedFont>
    <p:embeddedFont>
      <p:font typeface="Open Sans Bold" charset="1" panose="00000000000000000000"/>
      <p:regular r:id="rId37"/>
    </p:embeddedFont>
    <p:embeddedFont>
      <p:font typeface="Prompt Italics" charset="1" panose="00000500000000000000"/>
      <p:regular r:id="rId38"/>
    </p:embeddedFont>
    <p:embeddedFont>
      <p:font typeface="Canva Sans" charset="1" panose="020B0503030501040103"/>
      <p:regular r:id="rId39"/>
    </p:embeddedFont>
    <p:embeddedFont>
      <p:font typeface="Prompt Bold" charset="1" panose="00000800000000000000"/>
      <p:regular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embeddings/oleObject1.bin" Type="http://schemas.openxmlformats.org/officeDocument/2006/relationships/oleObjec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53439"/>
        </a:solidFill>
      </p:bgPr>
    </p:bg>
    <p:spTree>
      <p:nvGrpSpPr>
        <p:cNvPr id="1" name=""/>
        <p:cNvGrpSpPr/>
        <p:nvPr/>
      </p:nvGrpSpPr>
      <p:grpSpPr>
        <a:xfrm>
          <a:off x="0" y="0"/>
          <a:ext cx="0" cy="0"/>
          <a:chOff x="0" y="0"/>
          <a:chExt cx="0" cy="0"/>
        </a:xfrm>
      </p:grpSpPr>
      <p:grpSp>
        <p:nvGrpSpPr>
          <p:cNvPr name="Group 2" id="2"/>
          <p:cNvGrpSpPr/>
          <p:nvPr/>
        </p:nvGrpSpPr>
        <p:grpSpPr>
          <a:xfrm rot="0">
            <a:off x="8362950" y="0"/>
            <a:ext cx="9944100" cy="10287000"/>
            <a:chOff x="0" y="0"/>
            <a:chExt cx="812800" cy="840828"/>
          </a:xfrm>
        </p:grpSpPr>
        <p:sp>
          <p:nvSpPr>
            <p:cNvPr name="Freeform 3" id="3"/>
            <p:cNvSpPr/>
            <p:nvPr/>
          </p:nvSpPr>
          <p:spPr>
            <a:xfrm flipH="false" flipV="false" rot="0">
              <a:off x="0" y="0"/>
              <a:ext cx="812800" cy="840828"/>
            </a:xfrm>
            <a:custGeom>
              <a:avLst/>
              <a:gdLst/>
              <a:ahLst/>
              <a:cxnLst/>
              <a:rect r="r" b="b" t="t" l="l"/>
              <a:pathLst>
                <a:path h="840828" w="812800">
                  <a:moveTo>
                    <a:pt x="0" y="0"/>
                  </a:moveTo>
                  <a:lnTo>
                    <a:pt x="812800" y="0"/>
                  </a:lnTo>
                  <a:lnTo>
                    <a:pt x="812800" y="840828"/>
                  </a:lnTo>
                  <a:lnTo>
                    <a:pt x="0" y="840828"/>
                  </a:lnTo>
                  <a:close/>
                </a:path>
              </a:pathLst>
            </a:custGeom>
            <a:blipFill>
              <a:blip r:embed="rId2"/>
              <a:stretch>
                <a:fillRect l="-45326" t="0" r="-45326" b="0"/>
              </a:stretch>
            </a:blipFill>
          </p:spPr>
        </p:sp>
      </p:grpSp>
      <p:sp>
        <p:nvSpPr>
          <p:cNvPr name="AutoShape 4" id="4"/>
          <p:cNvSpPr/>
          <p:nvPr/>
        </p:nvSpPr>
        <p:spPr>
          <a:xfrm flipV="true">
            <a:off x="523013" y="3983693"/>
            <a:ext cx="0" cy="894568"/>
          </a:xfrm>
          <a:prstGeom prst="line">
            <a:avLst/>
          </a:prstGeom>
          <a:ln cap="flat" w="19050">
            <a:solidFill>
              <a:srgbClr val="23CEF0"/>
            </a:solidFill>
            <a:prstDash val="solid"/>
            <a:headEnd type="none" len="sm" w="sm"/>
            <a:tailEnd type="none" len="sm" w="sm"/>
          </a:ln>
        </p:spPr>
      </p:sp>
      <p:sp>
        <p:nvSpPr>
          <p:cNvPr name="TextBox 5" id="5"/>
          <p:cNvSpPr txBox="true"/>
          <p:nvPr/>
        </p:nvSpPr>
        <p:spPr>
          <a:xfrm rot="0">
            <a:off x="742184" y="4155222"/>
            <a:ext cx="5219134" cy="494360"/>
          </a:xfrm>
          <a:prstGeom prst="rect">
            <a:avLst/>
          </a:prstGeom>
        </p:spPr>
        <p:txBody>
          <a:bodyPr anchor="t" rtlCol="false" tIns="0" lIns="0" bIns="0" rIns="0">
            <a:spAutoFit/>
          </a:bodyPr>
          <a:lstStyle/>
          <a:p>
            <a:pPr algn="l" marL="0" indent="0" lvl="0">
              <a:lnSpc>
                <a:spcPts val="4074"/>
              </a:lnSpc>
            </a:pPr>
            <a:r>
              <a:rPr lang="en-US" sz="2910" spc="-43">
                <a:solidFill>
                  <a:srgbClr val="FFFFFF"/>
                </a:solidFill>
                <a:latin typeface="Prompt"/>
                <a:ea typeface="Prompt"/>
                <a:cs typeface="Prompt"/>
                <a:sym typeface="Prompt"/>
              </a:rPr>
              <a:t>Using Secret sharing</a:t>
            </a:r>
          </a:p>
        </p:txBody>
      </p:sp>
      <p:sp>
        <p:nvSpPr>
          <p:cNvPr name="TextBox 6" id="6"/>
          <p:cNvSpPr txBox="true"/>
          <p:nvPr/>
        </p:nvSpPr>
        <p:spPr>
          <a:xfrm rot="0">
            <a:off x="514350" y="779589"/>
            <a:ext cx="7143750" cy="2876228"/>
          </a:xfrm>
          <a:prstGeom prst="rect">
            <a:avLst/>
          </a:prstGeom>
        </p:spPr>
        <p:txBody>
          <a:bodyPr anchor="t" rtlCol="false" tIns="0" lIns="0" bIns="0" rIns="0">
            <a:spAutoFit/>
          </a:bodyPr>
          <a:lstStyle/>
          <a:p>
            <a:pPr algn="l" marL="0" indent="0" lvl="0">
              <a:lnSpc>
                <a:spcPts val="11351"/>
              </a:lnSpc>
            </a:pPr>
            <a:r>
              <a:rPr lang="en-US" sz="9459">
                <a:solidFill>
                  <a:srgbClr val="FFFFFF"/>
                </a:solidFill>
                <a:latin typeface="Anton"/>
                <a:ea typeface="Anton"/>
                <a:cs typeface="Anton"/>
                <a:sym typeface="Anton"/>
              </a:rPr>
              <a:t>Dead Man’s Switch</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253439"/>
        </a:solidFill>
      </p:bgPr>
    </p:bg>
    <p:spTree>
      <p:nvGrpSpPr>
        <p:cNvPr id="1" name=""/>
        <p:cNvGrpSpPr/>
        <p:nvPr/>
      </p:nvGrpSpPr>
      <p:grpSpPr>
        <a:xfrm>
          <a:off x="0" y="0"/>
          <a:ext cx="0" cy="0"/>
          <a:chOff x="0" y="0"/>
          <a:chExt cx="0" cy="0"/>
        </a:xfrm>
      </p:grpSpPr>
      <p:grpSp>
        <p:nvGrpSpPr>
          <p:cNvPr name="Group 2" id="2"/>
          <p:cNvGrpSpPr/>
          <p:nvPr/>
        </p:nvGrpSpPr>
        <p:grpSpPr>
          <a:xfrm rot="0">
            <a:off x="7788453" y="1150108"/>
            <a:ext cx="771999" cy="771999"/>
            <a:chOff x="0" y="0"/>
            <a:chExt cx="6350000" cy="6350000"/>
          </a:xfrm>
        </p:grpSpPr>
        <p:sp>
          <p:nvSpPr>
            <p:cNvPr name="Freeform 3" id="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FFFF"/>
            </a:solidFill>
          </p:spPr>
        </p:sp>
      </p:grpSp>
      <p:sp>
        <p:nvSpPr>
          <p:cNvPr name="TextBox 4" id="4"/>
          <p:cNvSpPr txBox="true"/>
          <p:nvPr/>
        </p:nvSpPr>
        <p:spPr>
          <a:xfrm rot="0">
            <a:off x="7901847" y="1139677"/>
            <a:ext cx="545211" cy="669036"/>
          </a:xfrm>
          <a:prstGeom prst="rect">
            <a:avLst/>
          </a:prstGeom>
        </p:spPr>
        <p:txBody>
          <a:bodyPr anchor="t" rtlCol="false" tIns="0" lIns="0" bIns="0" rIns="0">
            <a:spAutoFit/>
          </a:bodyPr>
          <a:lstStyle/>
          <a:p>
            <a:pPr algn="ctr">
              <a:lnSpc>
                <a:spcPts val="5652"/>
              </a:lnSpc>
            </a:pPr>
            <a:r>
              <a:rPr lang="en-US" b="true" sz="3600" spc="-53">
                <a:solidFill>
                  <a:srgbClr val="423E3A"/>
                </a:solidFill>
                <a:latin typeface="Prompt Semi-Bold"/>
                <a:ea typeface="Prompt Semi-Bold"/>
                <a:cs typeface="Prompt Semi-Bold"/>
                <a:sym typeface="Prompt Semi-Bold"/>
              </a:rPr>
              <a:t>1</a:t>
            </a:r>
          </a:p>
        </p:txBody>
      </p:sp>
      <p:sp>
        <p:nvSpPr>
          <p:cNvPr name="TextBox 5" id="5"/>
          <p:cNvSpPr txBox="true"/>
          <p:nvPr/>
        </p:nvSpPr>
        <p:spPr>
          <a:xfrm rot="0">
            <a:off x="8692490" y="2444959"/>
            <a:ext cx="9194563" cy="666892"/>
          </a:xfrm>
          <a:prstGeom prst="rect">
            <a:avLst/>
          </a:prstGeom>
        </p:spPr>
        <p:txBody>
          <a:bodyPr anchor="t" rtlCol="false" tIns="0" lIns="0" bIns="0" rIns="0">
            <a:spAutoFit/>
          </a:bodyPr>
          <a:lstStyle/>
          <a:p>
            <a:pPr algn="l" marL="0" indent="0" lvl="1">
              <a:lnSpc>
                <a:spcPts val="5809"/>
              </a:lnSpc>
              <a:spcBef>
                <a:spcPct val="0"/>
              </a:spcBef>
            </a:pPr>
            <a:r>
              <a:rPr lang="en-US" sz="2904" spc="-43">
                <a:solidFill>
                  <a:srgbClr val="FFFFFF"/>
                </a:solidFill>
                <a:latin typeface="Prompt"/>
                <a:ea typeface="Prompt"/>
                <a:cs typeface="Prompt"/>
                <a:sym typeface="Prompt"/>
              </a:rPr>
              <a:t> controlled activation and triggering mechanism.</a:t>
            </a:r>
          </a:p>
        </p:txBody>
      </p:sp>
      <p:grpSp>
        <p:nvGrpSpPr>
          <p:cNvPr name="Group 6" id="6"/>
          <p:cNvGrpSpPr/>
          <p:nvPr/>
        </p:nvGrpSpPr>
        <p:grpSpPr>
          <a:xfrm rot="0">
            <a:off x="7788453" y="2622954"/>
            <a:ext cx="771999" cy="771999"/>
            <a:chOff x="0" y="0"/>
            <a:chExt cx="6350000" cy="6350000"/>
          </a:xfrm>
        </p:grpSpPr>
        <p:sp>
          <p:nvSpPr>
            <p:cNvPr name="Freeform 7" id="7"/>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FFFF"/>
            </a:solidFill>
          </p:spPr>
        </p:sp>
      </p:grpSp>
      <p:sp>
        <p:nvSpPr>
          <p:cNvPr name="TextBox 8" id="8"/>
          <p:cNvSpPr txBox="true"/>
          <p:nvPr/>
        </p:nvSpPr>
        <p:spPr>
          <a:xfrm rot="0">
            <a:off x="7901847" y="2549734"/>
            <a:ext cx="545211" cy="669036"/>
          </a:xfrm>
          <a:prstGeom prst="rect">
            <a:avLst/>
          </a:prstGeom>
        </p:spPr>
        <p:txBody>
          <a:bodyPr anchor="t" rtlCol="false" tIns="0" lIns="0" bIns="0" rIns="0">
            <a:spAutoFit/>
          </a:bodyPr>
          <a:lstStyle/>
          <a:p>
            <a:pPr algn="ctr" marL="0" indent="0" lvl="1">
              <a:lnSpc>
                <a:spcPts val="5652"/>
              </a:lnSpc>
              <a:spcBef>
                <a:spcPct val="0"/>
              </a:spcBef>
            </a:pPr>
            <a:r>
              <a:rPr lang="en-US" b="true" sz="3600" spc="-53" u="none">
                <a:solidFill>
                  <a:srgbClr val="423E3A"/>
                </a:solidFill>
                <a:latin typeface="Prompt Semi-Bold"/>
                <a:ea typeface="Prompt Semi-Bold"/>
                <a:cs typeface="Prompt Semi-Bold"/>
                <a:sym typeface="Prompt Semi-Bold"/>
              </a:rPr>
              <a:t>2</a:t>
            </a:r>
          </a:p>
        </p:txBody>
      </p:sp>
      <p:sp>
        <p:nvSpPr>
          <p:cNvPr name="TextBox 9" id="9"/>
          <p:cNvSpPr txBox="true"/>
          <p:nvPr/>
        </p:nvSpPr>
        <p:spPr>
          <a:xfrm rot="0">
            <a:off x="9144000" y="4089383"/>
            <a:ext cx="6463845" cy="717556"/>
          </a:xfrm>
          <a:prstGeom prst="rect">
            <a:avLst/>
          </a:prstGeom>
        </p:spPr>
        <p:txBody>
          <a:bodyPr anchor="t" rtlCol="false" tIns="0" lIns="0" bIns="0" rIns="0">
            <a:spAutoFit/>
          </a:bodyPr>
          <a:lstStyle/>
          <a:p>
            <a:pPr algn="l" marL="0" indent="0" lvl="1">
              <a:lnSpc>
                <a:spcPts val="6312"/>
              </a:lnSpc>
              <a:spcBef>
                <a:spcPct val="0"/>
              </a:spcBef>
            </a:pPr>
            <a:r>
              <a:rPr lang="en-US" b="true" sz="3156" spc="-47">
                <a:solidFill>
                  <a:srgbClr val="FFFFFF"/>
                </a:solidFill>
                <a:latin typeface="Prompt Semi-Bold"/>
                <a:ea typeface="Prompt Semi-Bold"/>
                <a:cs typeface="Prompt Semi-Bold"/>
                <a:sym typeface="Prompt Semi-Bold"/>
              </a:rPr>
              <a:t>Secure Share Distribution</a:t>
            </a:r>
          </a:p>
        </p:txBody>
      </p:sp>
      <p:grpSp>
        <p:nvGrpSpPr>
          <p:cNvPr name="Group 10" id="10"/>
          <p:cNvGrpSpPr/>
          <p:nvPr/>
        </p:nvGrpSpPr>
        <p:grpSpPr>
          <a:xfrm rot="0">
            <a:off x="7920491" y="5399107"/>
            <a:ext cx="771999" cy="771999"/>
            <a:chOff x="0" y="0"/>
            <a:chExt cx="6350000" cy="6350000"/>
          </a:xfrm>
        </p:grpSpPr>
        <p:sp>
          <p:nvSpPr>
            <p:cNvPr name="Freeform 11" id="11"/>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FFFF"/>
            </a:solidFill>
          </p:spPr>
        </p:sp>
      </p:grpSp>
      <p:sp>
        <p:nvSpPr>
          <p:cNvPr name="TextBox 12" id="12"/>
          <p:cNvSpPr txBox="true"/>
          <p:nvPr/>
        </p:nvSpPr>
        <p:spPr>
          <a:xfrm rot="0">
            <a:off x="8062406" y="5388676"/>
            <a:ext cx="545211" cy="669036"/>
          </a:xfrm>
          <a:prstGeom prst="rect">
            <a:avLst/>
          </a:prstGeom>
        </p:spPr>
        <p:txBody>
          <a:bodyPr anchor="t" rtlCol="false" tIns="0" lIns="0" bIns="0" rIns="0">
            <a:spAutoFit/>
          </a:bodyPr>
          <a:lstStyle/>
          <a:p>
            <a:pPr algn="ctr" marL="0" indent="0" lvl="1">
              <a:lnSpc>
                <a:spcPts val="5652"/>
              </a:lnSpc>
              <a:spcBef>
                <a:spcPct val="0"/>
              </a:spcBef>
            </a:pPr>
            <a:r>
              <a:rPr lang="en-US" b="true" sz="3600" spc="-53" u="none">
                <a:solidFill>
                  <a:srgbClr val="423E3A"/>
                </a:solidFill>
                <a:latin typeface="Prompt Semi-Bold"/>
                <a:ea typeface="Prompt Semi-Bold"/>
                <a:cs typeface="Prompt Semi-Bold"/>
                <a:sym typeface="Prompt Semi-Bold"/>
              </a:rPr>
              <a:t>4</a:t>
            </a:r>
          </a:p>
        </p:txBody>
      </p:sp>
      <p:sp>
        <p:nvSpPr>
          <p:cNvPr name="TextBox 13" id="13"/>
          <p:cNvSpPr txBox="true"/>
          <p:nvPr/>
        </p:nvSpPr>
        <p:spPr>
          <a:xfrm rot="0">
            <a:off x="9144000" y="5196250"/>
            <a:ext cx="6463845" cy="842720"/>
          </a:xfrm>
          <a:prstGeom prst="rect">
            <a:avLst/>
          </a:prstGeom>
        </p:spPr>
        <p:txBody>
          <a:bodyPr anchor="t" rtlCol="false" tIns="0" lIns="0" bIns="0" rIns="0">
            <a:spAutoFit/>
          </a:bodyPr>
          <a:lstStyle/>
          <a:p>
            <a:pPr algn="l" marL="0" indent="0" lvl="1">
              <a:lnSpc>
                <a:spcPts val="7411"/>
              </a:lnSpc>
              <a:spcBef>
                <a:spcPct val="0"/>
              </a:spcBef>
            </a:pPr>
            <a:r>
              <a:rPr lang="en-US" b="true" sz="3705" spc="-55">
                <a:solidFill>
                  <a:srgbClr val="FFFFFF"/>
                </a:solidFill>
                <a:latin typeface="Prompt Semi-Bold"/>
                <a:ea typeface="Prompt Semi-Bold"/>
                <a:cs typeface="Prompt Semi-Bold"/>
                <a:sym typeface="Prompt Semi-Bold"/>
              </a:rPr>
              <a:t>Security Challenges</a:t>
            </a:r>
          </a:p>
        </p:txBody>
      </p:sp>
      <p:grpSp>
        <p:nvGrpSpPr>
          <p:cNvPr name="Group 14" id="14"/>
          <p:cNvGrpSpPr/>
          <p:nvPr/>
        </p:nvGrpSpPr>
        <p:grpSpPr>
          <a:xfrm rot="0">
            <a:off x="7901847" y="4147428"/>
            <a:ext cx="771999" cy="771999"/>
            <a:chOff x="0" y="0"/>
            <a:chExt cx="6350000" cy="6350000"/>
          </a:xfrm>
        </p:grpSpPr>
        <p:sp>
          <p:nvSpPr>
            <p:cNvPr name="Freeform 15" id="15"/>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FFFF"/>
            </a:solidFill>
          </p:spPr>
        </p:sp>
      </p:grpSp>
      <p:sp>
        <p:nvSpPr>
          <p:cNvPr name="TextBox 16" id="16"/>
          <p:cNvSpPr txBox="true"/>
          <p:nvPr/>
        </p:nvSpPr>
        <p:spPr>
          <a:xfrm rot="0">
            <a:off x="8015241" y="4137903"/>
            <a:ext cx="545211" cy="669036"/>
          </a:xfrm>
          <a:prstGeom prst="rect">
            <a:avLst/>
          </a:prstGeom>
        </p:spPr>
        <p:txBody>
          <a:bodyPr anchor="t" rtlCol="false" tIns="0" lIns="0" bIns="0" rIns="0">
            <a:spAutoFit/>
          </a:bodyPr>
          <a:lstStyle/>
          <a:p>
            <a:pPr algn="ctr" marL="0" indent="0" lvl="1">
              <a:lnSpc>
                <a:spcPts val="5652"/>
              </a:lnSpc>
              <a:spcBef>
                <a:spcPct val="0"/>
              </a:spcBef>
            </a:pPr>
            <a:r>
              <a:rPr lang="en-US" b="true" sz="3600" spc="-53" u="none">
                <a:solidFill>
                  <a:srgbClr val="423E3A"/>
                </a:solidFill>
                <a:latin typeface="Prompt Semi-Bold"/>
                <a:ea typeface="Prompt Semi-Bold"/>
                <a:cs typeface="Prompt Semi-Bold"/>
                <a:sym typeface="Prompt Semi-Bold"/>
              </a:rPr>
              <a:t>3</a:t>
            </a:r>
          </a:p>
        </p:txBody>
      </p:sp>
      <p:sp>
        <p:nvSpPr>
          <p:cNvPr name="TextBox 17" id="17"/>
          <p:cNvSpPr txBox="true"/>
          <p:nvPr/>
        </p:nvSpPr>
        <p:spPr>
          <a:xfrm rot="0">
            <a:off x="9053067" y="6648570"/>
            <a:ext cx="8473408" cy="580699"/>
          </a:xfrm>
          <a:prstGeom prst="rect">
            <a:avLst/>
          </a:prstGeom>
        </p:spPr>
        <p:txBody>
          <a:bodyPr anchor="t" rtlCol="false" tIns="0" lIns="0" bIns="0" rIns="0">
            <a:spAutoFit/>
          </a:bodyPr>
          <a:lstStyle/>
          <a:p>
            <a:pPr algn="l" marL="0" indent="0" lvl="1">
              <a:lnSpc>
                <a:spcPts val="4742"/>
              </a:lnSpc>
            </a:pPr>
            <a:r>
              <a:rPr lang="en-US" sz="3387" spc="-50">
                <a:solidFill>
                  <a:srgbClr val="FFFFFF"/>
                </a:solidFill>
                <a:latin typeface="Prompt"/>
                <a:ea typeface="Prompt"/>
                <a:cs typeface="Prompt"/>
                <a:sym typeface="Prompt"/>
              </a:rPr>
              <a:t>Authentication, access control, Use Cases</a:t>
            </a:r>
          </a:p>
        </p:txBody>
      </p:sp>
      <p:grpSp>
        <p:nvGrpSpPr>
          <p:cNvPr name="Group 18" id="18"/>
          <p:cNvGrpSpPr/>
          <p:nvPr/>
        </p:nvGrpSpPr>
        <p:grpSpPr>
          <a:xfrm rot="0">
            <a:off x="7925430" y="6714031"/>
            <a:ext cx="771999" cy="771999"/>
            <a:chOff x="0" y="0"/>
            <a:chExt cx="6350000" cy="6350000"/>
          </a:xfrm>
        </p:grpSpPr>
        <p:sp>
          <p:nvSpPr>
            <p:cNvPr name="Freeform 19" id="19"/>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FFFF"/>
            </a:solidFill>
          </p:spPr>
        </p:sp>
      </p:grpSp>
      <p:sp>
        <p:nvSpPr>
          <p:cNvPr name="TextBox 20" id="20"/>
          <p:cNvSpPr txBox="true"/>
          <p:nvPr/>
        </p:nvSpPr>
        <p:spPr>
          <a:xfrm rot="0">
            <a:off x="8062406" y="6752131"/>
            <a:ext cx="498046" cy="621871"/>
          </a:xfrm>
          <a:prstGeom prst="rect">
            <a:avLst/>
          </a:prstGeom>
        </p:spPr>
        <p:txBody>
          <a:bodyPr anchor="t" rtlCol="false" tIns="0" lIns="0" bIns="0" rIns="0">
            <a:spAutoFit/>
          </a:bodyPr>
          <a:lstStyle/>
          <a:p>
            <a:pPr algn="ctr" marL="0" indent="0" lvl="1">
              <a:lnSpc>
                <a:spcPts val="5163"/>
              </a:lnSpc>
              <a:spcBef>
                <a:spcPct val="0"/>
              </a:spcBef>
            </a:pPr>
            <a:r>
              <a:rPr lang="en-US" b="true" sz="3288" spc="-49" u="none">
                <a:solidFill>
                  <a:srgbClr val="423E3A"/>
                </a:solidFill>
                <a:latin typeface="Prompt Semi-Bold"/>
                <a:ea typeface="Prompt Semi-Bold"/>
                <a:cs typeface="Prompt Semi-Bold"/>
                <a:sym typeface="Prompt Semi-Bold"/>
              </a:rPr>
              <a:t>5</a:t>
            </a:r>
          </a:p>
        </p:txBody>
      </p:sp>
      <p:sp>
        <p:nvSpPr>
          <p:cNvPr name="TextBox 21" id="21"/>
          <p:cNvSpPr txBox="true"/>
          <p:nvPr/>
        </p:nvSpPr>
        <p:spPr>
          <a:xfrm rot="0">
            <a:off x="1675898" y="2336564"/>
            <a:ext cx="4257587" cy="1219200"/>
          </a:xfrm>
          <a:prstGeom prst="rect">
            <a:avLst/>
          </a:prstGeom>
        </p:spPr>
        <p:txBody>
          <a:bodyPr anchor="t" rtlCol="false" tIns="0" lIns="0" bIns="0" rIns="0">
            <a:spAutoFit/>
          </a:bodyPr>
          <a:lstStyle/>
          <a:p>
            <a:pPr algn="l" marL="0" indent="0" lvl="0">
              <a:lnSpc>
                <a:spcPts val="9600"/>
              </a:lnSpc>
              <a:spcBef>
                <a:spcPct val="0"/>
              </a:spcBef>
            </a:pPr>
            <a:r>
              <a:rPr lang="en-US" sz="8000">
                <a:solidFill>
                  <a:srgbClr val="FFFFFF"/>
                </a:solidFill>
                <a:latin typeface="Anton"/>
                <a:ea typeface="Anton"/>
                <a:cs typeface="Anton"/>
                <a:sym typeface="Anton"/>
              </a:rPr>
              <a:t>Agenda</a:t>
            </a:r>
          </a:p>
        </p:txBody>
      </p:sp>
      <p:sp>
        <p:nvSpPr>
          <p:cNvPr name="TextBox 22" id="22"/>
          <p:cNvSpPr txBox="true"/>
          <p:nvPr/>
        </p:nvSpPr>
        <p:spPr>
          <a:xfrm rot="0">
            <a:off x="8692490" y="927723"/>
            <a:ext cx="9381368" cy="1111994"/>
          </a:xfrm>
          <a:prstGeom prst="rect">
            <a:avLst/>
          </a:prstGeom>
        </p:spPr>
        <p:txBody>
          <a:bodyPr anchor="t" rtlCol="false" tIns="0" lIns="0" bIns="0" rIns="0">
            <a:spAutoFit/>
          </a:bodyPr>
          <a:lstStyle/>
          <a:p>
            <a:pPr algn="ctr">
              <a:lnSpc>
                <a:spcPts val="4536"/>
              </a:lnSpc>
              <a:spcBef>
                <a:spcPct val="0"/>
              </a:spcBef>
            </a:pPr>
            <a:r>
              <a:rPr lang="en-US" b="true" sz="2889" spc="-43">
                <a:solidFill>
                  <a:srgbClr val="FFFFFF"/>
                </a:solidFill>
                <a:latin typeface="Prompt Semi-Bold"/>
                <a:ea typeface="Prompt Semi-Bold"/>
                <a:cs typeface="Prompt Semi-Bold"/>
                <a:sym typeface="Prompt Semi-Bold"/>
              </a:rPr>
              <a:t>Introduction to the Death Man's Switch and Shamir's Secret Sharing Scheme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01F24"/>
        </a:solidFill>
      </p:bgPr>
    </p:bg>
    <p:spTree>
      <p:nvGrpSpPr>
        <p:cNvPr id="1" name=""/>
        <p:cNvGrpSpPr/>
        <p:nvPr/>
      </p:nvGrpSpPr>
      <p:grpSpPr>
        <a:xfrm>
          <a:off x="0" y="0"/>
          <a:ext cx="0" cy="0"/>
          <a:chOff x="0" y="0"/>
          <a:chExt cx="0" cy="0"/>
        </a:xfrm>
      </p:grpSpPr>
      <p:sp>
        <p:nvSpPr>
          <p:cNvPr name="TextBox 2" id="2"/>
          <p:cNvSpPr txBox="true"/>
          <p:nvPr/>
        </p:nvSpPr>
        <p:spPr>
          <a:xfrm rot="0">
            <a:off x="8334195" y="3967480"/>
            <a:ext cx="8449110" cy="2228215"/>
          </a:xfrm>
          <a:prstGeom prst="rect">
            <a:avLst/>
          </a:prstGeom>
        </p:spPr>
        <p:txBody>
          <a:bodyPr anchor="t" rtlCol="false" tIns="0" lIns="0" bIns="0" rIns="0">
            <a:spAutoFit/>
          </a:bodyPr>
          <a:lstStyle/>
          <a:p>
            <a:pPr algn="ctr" marL="0" indent="0" lvl="0">
              <a:lnSpc>
                <a:spcPts val="8959"/>
              </a:lnSpc>
              <a:spcBef>
                <a:spcPct val="0"/>
              </a:spcBef>
            </a:pPr>
            <a:r>
              <a:rPr lang="en-US" sz="6399">
                <a:solidFill>
                  <a:srgbClr val="FFFFFF"/>
                </a:solidFill>
                <a:latin typeface="Anton"/>
                <a:ea typeface="Anton"/>
                <a:cs typeface="Anton"/>
                <a:sym typeface="Anton"/>
              </a:rPr>
              <a:t>Introduction to the Death Man's Switch</a:t>
            </a:r>
          </a:p>
        </p:txBody>
      </p:sp>
      <p:grpSp>
        <p:nvGrpSpPr>
          <p:cNvPr name="Group 3" id="3"/>
          <p:cNvGrpSpPr/>
          <p:nvPr/>
        </p:nvGrpSpPr>
        <p:grpSpPr>
          <a:xfrm rot="0">
            <a:off x="0" y="0"/>
            <a:ext cx="6858000" cy="10287000"/>
            <a:chOff x="0" y="0"/>
            <a:chExt cx="812800" cy="1219200"/>
          </a:xfrm>
        </p:grpSpPr>
        <p:sp>
          <p:nvSpPr>
            <p:cNvPr name="Freeform 4" id="4"/>
            <p:cNvSpPr/>
            <p:nvPr/>
          </p:nvSpPr>
          <p:spPr>
            <a:xfrm flipH="false" flipV="false" rot="0">
              <a:off x="0" y="0"/>
              <a:ext cx="812800" cy="1219200"/>
            </a:xfrm>
            <a:custGeom>
              <a:avLst/>
              <a:gdLst/>
              <a:ahLst/>
              <a:cxnLst/>
              <a:rect r="r" b="b" t="t" l="l"/>
              <a:pathLst>
                <a:path h="1219200" w="812800">
                  <a:moveTo>
                    <a:pt x="0" y="0"/>
                  </a:moveTo>
                  <a:lnTo>
                    <a:pt x="812800" y="0"/>
                  </a:lnTo>
                  <a:lnTo>
                    <a:pt x="812800" y="1219200"/>
                  </a:lnTo>
                  <a:lnTo>
                    <a:pt x="0" y="1219200"/>
                  </a:lnTo>
                  <a:close/>
                </a:path>
              </a:pathLst>
            </a:custGeom>
            <a:blipFill>
              <a:blip r:embed="rId2"/>
              <a:stretch>
                <a:fillRect l="-45613" t="0" r="-45613" b="0"/>
              </a:stretch>
            </a:blipFill>
          </p:spPr>
        </p:sp>
      </p:grpSp>
    </p:spTree>
  </p:cSld>
  <p:clrMapOvr>
    <a:masterClrMapping/>
  </p:clrMapOvr>
</p:sld>
</file>

<file path=ppt/slides/slide4.xml><?xml version="1.0" encoding="utf-8"?>
<p:sld xmlns:p="http://schemas.openxmlformats.org/presentationml/2006/main" xmlns:a="http://schemas.openxmlformats.org/drawingml/2006/main">
  <p:cSld>
    <p:bg>
      <p:bgPr>
        <a:solidFill>
          <a:srgbClr val="253439"/>
        </a:solidFill>
      </p:bgPr>
    </p:bg>
    <p:spTree>
      <p:nvGrpSpPr>
        <p:cNvPr id="1" name=""/>
        <p:cNvGrpSpPr/>
        <p:nvPr/>
      </p:nvGrpSpPr>
      <p:grpSpPr>
        <a:xfrm>
          <a:off x="0" y="0"/>
          <a:ext cx="0" cy="0"/>
          <a:chOff x="0" y="0"/>
          <a:chExt cx="0" cy="0"/>
        </a:xfrm>
      </p:grpSpPr>
      <p:sp>
        <p:nvSpPr>
          <p:cNvPr name="TextBox 2" id="2"/>
          <p:cNvSpPr txBox="true"/>
          <p:nvPr/>
        </p:nvSpPr>
        <p:spPr>
          <a:xfrm rot="0">
            <a:off x="1028700" y="1889569"/>
            <a:ext cx="15844090" cy="6384036"/>
          </a:xfrm>
          <a:prstGeom prst="rect">
            <a:avLst/>
          </a:prstGeom>
        </p:spPr>
        <p:txBody>
          <a:bodyPr anchor="t" rtlCol="false" tIns="0" lIns="0" bIns="0" rIns="0">
            <a:spAutoFit/>
          </a:bodyPr>
          <a:lstStyle/>
          <a:p>
            <a:pPr algn="ctr">
              <a:lnSpc>
                <a:spcPts val="5652"/>
              </a:lnSpc>
              <a:spcBef>
                <a:spcPct val="0"/>
              </a:spcBef>
            </a:pPr>
            <a:r>
              <a:rPr lang="en-US" b="true" sz="3600" spc="-53">
                <a:solidFill>
                  <a:srgbClr val="FFFFFF"/>
                </a:solidFill>
                <a:latin typeface="Prompt Semi-Bold"/>
                <a:ea typeface="Prompt Semi-Bold"/>
                <a:cs typeface="Prompt Semi-Bold"/>
                <a:sym typeface="Prompt Semi-Bold"/>
              </a:rPr>
              <a:t>A Dead Man’s Switch is like a safety backup that kicks in when a person in control can’t respond anymore.</a:t>
            </a:r>
          </a:p>
          <a:p>
            <a:pPr algn="ctr">
              <a:lnSpc>
                <a:spcPts val="5652"/>
              </a:lnSpc>
              <a:spcBef>
                <a:spcPct val="0"/>
              </a:spcBef>
            </a:pPr>
            <a:r>
              <a:rPr lang="en-US" b="true" sz="3600" spc="-53">
                <a:solidFill>
                  <a:srgbClr val="FFFFFF"/>
                </a:solidFill>
                <a:latin typeface="Prompt Semi-Bold"/>
                <a:ea typeface="Prompt Semi-Bold"/>
                <a:cs typeface="Prompt Semi-Bold"/>
                <a:sym typeface="Prompt Semi-Bold"/>
              </a:rPr>
              <a:t>It works by checking regularly if the person is still active like pressing a button, holding a lever, or sending a signal.</a:t>
            </a:r>
          </a:p>
          <a:p>
            <a:pPr algn="ctr">
              <a:lnSpc>
                <a:spcPts val="5652"/>
              </a:lnSpc>
              <a:spcBef>
                <a:spcPct val="0"/>
              </a:spcBef>
            </a:pPr>
            <a:r>
              <a:rPr lang="en-US" b="true" sz="3600" spc="-53">
                <a:solidFill>
                  <a:srgbClr val="FFFFFF"/>
                </a:solidFill>
                <a:latin typeface="Prompt Semi-Bold"/>
                <a:ea typeface="Prompt Semi-Bold"/>
                <a:cs typeface="Prompt Semi-Bold"/>
                <a:sym typeface="Prompt Semi-Bold"/>
              </a:rPr>
              <a:t>If there’s no response within a set time, it triggers an action:</a:t>
            </a:r>
          </a:p>
          <a:p>
            <a:pPr algn="l">
              <a:lnSpc>
                <a:spcPts val="5652"/>
              </a:lnSpc>
              <a:spcBef>
                <a:spcPct val="0"/>
              </a:spcBef>
            </a:pPr>
            <a:r>
              <a:rPr lang="en-US" b="true" sz="3600" spc="-53">
                <a:solidFill>
                  <a:srgbClr val="FFFFFF"/>
                </a:solidFill>
                <a:latin typeface="Prompt Semi-Bold"/>
                <a:ea typeface="Prompt Semi-Bold"/>
                <a:cs typeface="Prompt Semi-Bold"/>
                <a:sym typeface="Prompt Semi-Bold"/>
              </a:rPr>
              <a:t>Examples </a:t>
            </a:r>
          </a:p>
          <a:p>
            <a:pPr algn="l" marL="777240" indent="-388620" lvl="1">
              <a:lnSpc>
                <a:spcPts val="5652"/>
              </a:lnSpc>
              <a:buFont typeface="Arial"/>
              <a:buChar char="•"/>
            </a:pPr>
            <a:r>
              <a:rPr lang="en-US" b="true" sz="3600" spc="-53">
                <a:solidFill>
                  <a:srgbClr val="FFFFFF"/>
                </a:solidFill>
                <a:latin typeface="Prompt Semi-Bold"/>
                <a:ea typeface="Prompt Semi-Bold"/>
                <a:cs typeface="Prompt Semi-Bold"/>
                <a:sym typeface="Prompt Semi-Bold"/>
              </a:rPr>
              <a:t>Stops a train: if the driver lets go of the controls</a:t>
            </a:r>
          </a:p>
          <a:p>
            <a:pPr algn="l" marL="777240" indent="-388620" lvl="1">
              <a:lnSpc>
                <a:spcPts val="5652"/>
              </a:lnSpc>
              <a:buFont typeface="Arial"/>
              <a:buChar char="•"/>
            </a:pPr>
            <a:r>
              <a:rPr lang="en-US" b="true" sz="3600" spc="-53">
                <a:solidFill>
                  <a:srgbClr val="FFFFFF"/>
                </a:solidFill>
                <a:latin typeface="Prompt Semi-Bold"/>
                <a:ea typeface="Prompt Semi-Bold"/>
                <a:cs typeface="Prompt Semi-Bold"/>
                <a:sym typeface="Prompt Semi-Bold"/>
              </a:rPr>
              <a:t>Sends an alert: if a worker becomes unresponsive</a:t>
            </a:r>
          </a:p>
          <a:p>
            <a:pPr algn="l" marL="777240" indent="-388620" lvl="1">
              <a:lnSpc>
                <a:spcPts val="5652"/>
              </a:lnSpc>
              <a:buFont typeface="Arial"/>
              <a:buChar char="•"/>
            </a:pPr>
            <a:r>
              <a:rPr lang="en-US" b="true" sz="3600" spc="-53">
                <a:solidFill>
                  <a:srgbClr val="FFFFFF"/>
                </a:solidFill>
                <a:latin typeface="Prompt Semi-Bold"/>
                <a:ea typeface="Prompt Semi-Bold"/>
                <a:cs typeface="Prompt Semi-Bold"/>
                <a:sym typeface="Prompt Semi-Bold"/>
              </a:rPr>
              <a:t>Releases information: if the owner can’t activate it in time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253439"/>
        </a:solidFill>
      </p:bgPr>
    </p:bg>
    <p:spTree>
      <p:nvGrpSpPr>
        <p:cNvPr id="1" name=""/>
        <p:cNvGrpSpPr/>
        <p:nvPr/>
      </p:nvGrpSpPr>
      <p:grpSpPr>
        <a:xfrm>
          <a:off x="0" y="0"/>
          <a:ext cx="0" cy="0"/>
          <a:chOff x="0" y="0"/>
          <a:chExt cx="0" cy="0"/>
        </a:xfrm>
      </p:grpSpPr>
      <p:grpSp>
        <p:nvGrpSpPr>
          <p:cNvPr name="Group 2" id="2"/>
          <p:cNvGrpSpPr/>
          <p:nvPr/>
        </p:nvGrpSpPr>
        <p:grpSpPr>
          <a:xfrm rot="0">
            <a:off x="15840640" y="1028700"/>
            <a:ext cx="1418660" cy="8229600"/>
            <a:chOff x="0" y="0"/>
            <a:chExt cx="1891546" cy="10972800"/>
          </a:xfrm>
        </p:grpSpPr>
        <p:grpSp>
          <p:nvGrpSpPr>
            <p:cNvPr name="Group 3" id="3"/>
            <p:cNvGrpSpPr>
              <a:grpSpLocks noChangeAspect="true"/>
            </p:cNvGrpSpPr>
            <p:nvPr/>
          </p:nvGrpSpPr>
          <p:grpSpPr>
            <a:xfrm rot="-10800000">
              <a:off x="0" y="6810940"/>
              <a:ext cx="1891546" cy="1891546"/>
              <a:chOff x="0" y="0"/>
              <a:chExt cx="1708150" cy="1708150"/>
            </a:xfrm>
          </p:grpSpPr>
          <p:sp>
            <p:nvSpPr>
              <p:cNvPr name="Freeform 4" id="4"/>
              <p:cNvSpPr/>
              <p:nvPr/>
            </p:nvSpPr>
            <p:spPr>
              <a:xfrm flipH="false" flipV="false" rot="0">
                <a:off x="0" y="0"/>
                <a:ext cx="1706883" cy="1708150"/>
              </a:xfrm>
              <a:custGeom>
                <a:avLst/>
                <a:gdLst/>
                <a:ahLst/>
                <a:cxnLst/>
                <a:rect r="r" b="b" t="t" l="l"/>
                <a:pathLst>
                  <a:path h="1708150" w="1706883">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FFFFFF"/>
              </a:solidFill>
            </p:spPr>
          </p:sp>
        </p:grpSp>
        <p:sp>
          <p:nvSpPr>
            <p:cNvPr name="Freeform 5" id="5"/>
            <p:cNvSpPr/>
            <p:nvPr/>
          </p:nvSpPr>
          <p:spPr>
            <a:xfrm flipH="false" flipV="false" rot="-10800000">
              <a:off x="0" y="9081254"/>
              <a:ext cx="1891546" cy="1891546"/>
            </a:xfrm>
            <a:custGeom>
              <a:avLst/>
              <a:gdLst/>
              <a:ahLst/>
              <a:cxnLst/>
              <a:rect r="r" b="b" t="t" l="l"/>
              <a:pathLst>
                <a:path h="1891546" w="1891546">
                  <a:moveTo>
                    <a:pt x="0" y="0"/>
                  </a:moveTo>
                  <a:lnTo>
                    <a:pt x="1891546" y="0"/>
                  </a:lnTo>
                  <a:lnTo>
                    <a:pt x="1891546" y="1891546"/>
                  </a:lnTo>
                  <a:lnTo>
                    <a:pt x="0" y="18915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a:grpSpLocks noChangeAspect="true"/>
            </p:cNvGrpSpPr>
            <p:nvPr/>
          </p:nvGrpSpPr>
          <p:grpSpPr>
            <a:xfrm rot="-10800000">
              <a:off x="0" y="2270313"/>
              <a:ext cx="1891546" cy="1891546"/>
              <a:chOff x="0" y="0"/>
              <a:chExt cx="1708150" cy="1708150"/>
            </a:xfrm>
          </p:grpSpPr>
          <p:sp>
            <p:nvSpPr>
              <p:cNvPr name="Freeform 7" id="7"/>
              <p:cNvSpPr/>
              <p:nvPr/>
            </p:nvSpPr>
            <p:spPr>
              <a:xfrm flipH="false" flipV="false" rot="0">
                <a:off x="0" y="0"/>
                <a:ext cx="1706883" cy="1708150"/>
              </a:xfrm>
              <a:custGeom>
                <a:avLst/>
                <a:gdLst/>
                <a:ahLst/>
                <a:cxnLst/>
                <a:rect r="r" b="b" t="t" l="l"/>
                <a:pathLst>
                  <a:path h="1708150" w="1706883">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FFFFFF"/>
              </a:solidFill>
            </p:spPr>
          </p:sp>
        </p:grpSp>
        <p:sp>
          <p:nvSpPr>
            <p:cNvPr name="Freeform 8" id="8"/>
            <p:cNvSpPr/>
            <p:nvPr/>
          </p:nvSpPr>
          <p:spPr>
            <a:xfrm flipH="false" flipV="false" rot="-10800000">
              <a:off x="0" y="4540627"/>
              <a:ext cx="1891546" cy="1891546"/>
            </a:xfrm>
            <a:custGeom>
              <a:avLst/>
              <a:gdLst/>
              <a:ahLst/>
              <a:cxnLst/>
              <a:rect r="r" b="b" t="t" l="l"/>
              <a:pathLst>
                <a:path h="1891546" w="1891546">
                  <a:moveTo>
                    <a:pt x="0" y="0"/>
                  </a:moveTo>
                  <a:lnTo>
                    <a:pt x="1891546" y="0"/>
                  </a:lnTo>
                  <a:lnTo>
                    <a:pt x="1891546" y="1891546"/>
                  </a:lnTo>
                  <a:lnTo>
                    <a:pt x="0" y="18915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10800000">
              <a:off x="0" y="0"/>
              <a:ext cx="1891546" cy="1891546"/>
            </a:xfrm>
            <a:custGeom>
              <a:avLst/>
              <a:gdLst/>
              <a:ahLst/>
              <a:cxnLst/>
              <a:rect r="r" b="b" t="t" l="l"/>
              <a:pathLst>
                <a:path h="1891546" w="1891546">
                  <a:moveTo>
                    <a:pt x="0" y="0"/>
                  </a:moveTo>
                  <a:lnTo>
                    <a:pt x="1891546" y="0"/>
                  </a:lnTo>
                  <a:lnTo>
                    <a:pt x="1891546" y="1891546"/>
                  </a:lnTo>
                  <a:lnTo>
                    <a:pt x="0" y="18915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10" id="10"/>
          <p:cNvGrpSpPr/>
          <p:nvPr/>
        </p:nvGrpSpPr>
        <p:grpSpPr>
          <a:xfrm rot="0">
            <a:off x="1028700" y="3702392"/>
            <a:ext cx="13338033" cy="2882216"/>
            <a:chOff x="0" y="0"/>
            <a:chExt cx="17784044" cy="3842954"/>
          </a:xfrm>
        </p:grpSpPr>
        <p:sp>
          <p:nvSpPr>
            <p:cNvPr name="TextBox 11" id="11"/>
            <p:cNvSpPr txBox="true"/>
            <p:nvPr/>
          </p:nvSpPr>
          <p:spPr>
            <a:xfrm rot="0">
              <a:off x="0" y="-66675"/>
              <a:ext cx="17784044" cy="1484280"/>
            </a:xfrm>
            <a:prstGeom prst="rect">
              <a:avLst/>
            </a:prstGeom>
          </p:spPr>
          <p:txBody>
            <a:bodyPr anchor="t" rtlCol="false" tIns="0" lIns="0" bIns="0" rIns="0">
              <a:spAutoFit/>
            </a:bodyPr>
            <a:lstStyle/>
            <a:p>
              <a:pPr algn="l" marL="0" indent="0" lvl="0">
                <a:lnSpc>
                  <a:spcPts val="9143"/>
                </a:lnSpc>
              </a:pPr>
              <a:r>
                <a:rPr lang="en-US" b="true" sz="7033" spc="562">
                  <a:solidFill>
                    <a:srgbClr val="FFFFFF"/>
                  </a:solidFill>
                  <a:latin typeface="HK Grotesk Bold"/>
                  <a:ea typeface="HK Grotesk Bold"/>
                  <a:cs typeface="HK Grotesk Bold"/>
                  <a:sym typeface="HK Grotesk Bold"/>
                </a:rPr>
                <a:t>SHAMIR'S SECRET SHARING</a:t>
              </a:r>
            </a:p>
          </p:txBody>
        </p:sp>
        <p:sp>
          <p:nvSpPr>
            <p:cNvPr name="TextBox 12" id="12"/>
            <p:cNvSpPr txBox="true"/>
            <p:nvPr/>
          </p:nvSpPr>
          <p:spPr>
            <a:xfrm rot="0">
              <a:off x="0" y="3271852"/>
              <a:ext cx="17784044" cy="571102"/>
            </a:xfrm>
            <a:prstGeom prst="rect">
              <a:avLst/>
            </a:prstGeom>
          </p:spPr>
          <p:txBody>
            <a:bodyPr anchor="t" rtlCol="false" tIns="0" lIns="0" bIns="0" rIns="0">
              <a:spAutoFit/>
            </a:bodyPr>
            <a:lstStyle/>
            <a:p>
              <a:pPr algn="just" marL="0" indent="0" lvl="0">
                <a:lnSpc>
                  <a:spcPts val="3645"/>
                </a:lnSpc>
              </a:pPr>
            </a:p>
          </p:txBody>
        </p:sp>
        <p:sp>
          <p:nvSpPr>
            <p:cNvPr name="AutoShape 13" id="13"/>
            <p:cNvSpPr/>
            <p:nvPr/>
          </p:nvSpPr>
          <p:spPr>
            <a:xfrm rot="0">
              <a:off x="0" y="2128434"/>
              <a:ext cx="1324627" cy="223120"/>
            </a:xfrm>
            <a:prstGeom prst="rect">
              <a:avLst/>
            </a:prstGeom>
            <a:solidFill>
              <a:srgbClr val="FFFFFF"/>
            </a:solidFill>
          </p:spPr>
        </p:sp>
      </p:grpSp>
    </p:spTree>
  </p:cSld>
  <p:clrMapOvr>
    <a:masterClrMapping/>
  </p:clrMapOvr>
</p:sld>
</file>

<file path=ppt/slides/slide6.xml><?xml version="1.0" encoding="utf-8"?>
<p:sld xmlns:p="http://schemas.openxmlformats.org/presentationml/2006/main" xmlns:a="http://schemas.openxmlformats.org/drawingml/2006/main">
  <p:cSld>
    <p:bg>
      <p:bgPr>
        <a:solidFill>
          <a:srgbClr val="253439"/>
        </a:solidFill>
      </p:bgPr>
    </p:bg>
    <p:spTree>
      <p:nvGrpSpPr>
        <p:cNvPr id="1" name=""/>
        <p:cNvGrpSpPr/>
        <p:nvPr/>
      </p:nvGrpSpPr>
      <p:grpSpPr>
        <a:xfrm>
          <a:off x="0" y="0"/>
          <a:ext cx="0" cy="0"/>
          <a:chOff x="0" y="0"/>
          <a:chExt cx="0" cy="0"/>
        </a:xfrm>
      </p:grpSpPr>
      <p:sp>
        <p:nvSpPr>
          <p:cNvPr name="TextBox 2" id="2"/>
          <p:cNvSpPr txBox="true"/>
          <p:nvPr/>
        </p:nvSpPr>
        <p:spPr>
          <a:xfrm rot="0">
            <a:off x="1028700" y="904875"/>
            <a:ext cx="17259300" cy="7812786"/>
          </a:xfrm>
          <a:prstGeom prst="rect">
            <a:avLst/>
          </a:prstGeom>
        </p:spPr>
        <p:txBody>
          <a:bodyPr anchor="t" rtlCol="false" tIns="0" lIns="0" bIns="0" rIns="0">
            <a:spAutoFit/>
          </a:bodyPr>
          <a:lstStyle/>
          <a:p>
            <a:pPr algn="l">
              <a:lnSpc>
                <a:spcPts val="5652"/>
              </a:lnSpc>
              <a:spcBef>
                <a:spcPct val="0"/>
              </a:spcBef>
            </a:pPr>
            <a:r>
              <a:rPr lang="en-US" b="true" sz="3600" spc="-53">
                <a:solidFill>
                  <a:srgbClr val="FFFFFF"/>
                </a:solidFill>
                <a:latin typeface="Prompt Semi-Bold"/>
                <a:ea typeface="Prompt Semi-Bold"/>
                <a:cs typeface="Prompt Semi-Bold"/>
                <a:sym typeface="Prompt Semi-Bold"/>
              </a:rPr>
              <a:t>What is it:</a:t>
            </a:r>
          </a:p>
          <a:p>
            <a:pPr algn="ctr">
              <a:lnSpc>
                <a:spcPts val="5652"/>
              </a:lnSpc>
              <a:spcBef>
                <a:spcPct val="0"/>
              </a:spcBef>
            </a:pPr>
            <a:r>
              <a:rPr lang="en-US" b="true" sz="3600" spc="-53">
                <a:solidFill>
                  <a:srgbClr val="FFFFFF"/>
                </a:solidFill>
                <a:latin typeface="Prompt Semi-Bold"/>
                <a:ea typeface="Prompt Semi-Bold"/>
                <a:cs typeface="Prompt Semi-Bold"/>
                <a:sym typeface="Prompt Semi-Bold"/>
              </a:rPr>
              <a:t>Shamir’s Secret Sharing Scheme is a (k, n)-threshold cryptographic method that allows a secret to be split into n unique shares, such that:</a:t>
            </a:r>
          </a:p>
          <a:p>
            <a:pPr algn="ctr">
              <a:lnSpc>
                <a:spcPts val="5652"/>
              </a:lnSpc>
              <a:spcBef>
                <a:spcPct val="0"/>
              </a:spcBef>
            </a:pPr>
            <a:r>
              <a:rPr lang="en-US" b="true" sz="3600" spc="-53">
                <a:solidFill>
                  <a:srgbClr val="FFFFFF"/>
                </a:solidFill>
                <a:latin typeface="Prompt Semi-Bold"/>
                <a:ea typeface="Prompt Semi-Bold"/>
                <a:cs typeface="Prompt Semi-Bold"/>
                <a:sym typeface="Prompt Semi-Bold"/>
              </a:rPr>
              <a:t>Any k or more shares can reconstruct the secret</a:t>
            </a:r>
          </a:p>
          <a:p>
            <a:pPr algn="ctr">
              <a:lnSpc>
                <a:spcPts val="5652"/>
              </a:lnSpc>
              <a:spcBef>
                <a:spcPct val="0"/>
              </a:spcBef>
            </a:pPr>
            <a:r>
              <a:rPr lang="en-US" b="true" sz="3600" spc="-53">
                <a:solidFill>
                  <a:srgbClr val="FFFFFF"/>
                </a:solidFill>
                <a:latin typeface="Prompt Semi-Bold"/>
                <a:ea typeface="Prompt Semi-Bold"/>
                <a:cs typeface="Prompt Semi-Bold"/>
                <a:sym typeface="Prompt Semi-Bold"/>
              </a:rPr>
              <a:t>Fewer than k shares reveal absolutely nothing about the secret</a:t>
            </a:r>
          </a:p>
          <a:p>
            <a:pPr algn="ctr">
              <a:lnSpc>
                <a:spcPts val="5652"/>
              </a:lnSpc>
              <a:spcBef>
                <a:spcPct val="0"/>
              </a:spcBef>
            </a:pPr>
            <a:r>
              <a:rPr lang="en-US" b="true" sz="3600" spc="-53">
                <a:solidFill>
                  <a:srgbClr val="FFFFFF"/>
                </a:solidFill>
                <a:latin typeface="Prompt Semi-Bold"/>
                <a:ea typeface="Prompt Semi-Bold"/>
                <a:cs typeface="Prompt Semi-Bold"/>
                <a:sym typeface="Prompt Semi-Bold"/>
              </a:rPr>
              <a:t>It was invented by Adi Shamir (one of the inventors of RSA) in 1979 and is based on polynomial interpolation in finite fields</a:t>
            </a:r>
          </a:p>
          <a:p>
            <a:pPr algn="l">
              <a:lnSpc>
                <a:spcPts val="5652"/>
              </a:lnSpc>
              <a:spcBef>
                <a:spcPct val="0"/>
              </a:spcBef>
            </a:pPr>
            <a:r>
              <a:rPr lang="en-US" b="true" sz="3600" spc="-53">
                <a:solidFill>
                  <a:srgbClr val="FFFFFF"/>
                </a:solidFill>
                <a:latin typeface="Prompt Semi-Bold"/>
                <a:ea typeface="Prompt Semi-Bold"/>
                <a:cs typeface="Prompt Semi-Bold"/>
                <a:sym typeface="Prompt Semi-Bold"/>
              </a:rPr>
              <a:t>Uses:</a:t>
            </a:r>
          </a:p>
          <a:p>
            <a:pPr algn="l" marL="777240" indent="-388620" lvl="1">
              <a:lnSpc>
                <a:spcPts val="5652"/>
              </a:lnSpc>
              <a:buFont typeface="Arial"/>
              <a:buChar char="•"/>
            </a:pPr>
            <a:r>
              <a:rPr lang="en-US" b="true" sz="3600" spc="-53">
                <a:solidFill>
                  <a:srgbClr val="FFFFFF"/>
                </a:solidFill>
                <a:latin typeface="Prompt Semi-Bold"/>
                <a:ea typeface="Prompt Semi-Bold"/>
                <a:cs typeface="Prompt Semi-Bold"/>
                <a:sym typeface="Prompt Semi-Bold"/>
              </a:rPr>
              <a:t>Backup of encryption keys</a:t>
            </a:r>
          </a:p>
          <a:p>
            <a:pPr algn="l" marL="777240" indent="-388620" lvl="1">
              <a:lnSpc>
                <a:spcPts val="5652"/>
              </a:lnSpc>
              <a:buFont typeface="Arial"/>
              <a:buChar char="•"/>
            </a:pPr>
            <a:r>
              <a:rPr lang="en-US" b="true" sz="3600" spc="-53">
                <a:solidFill>
                  <a:srgbClr val="FFFFFF"/>
                </a:solidFill>
                <a:latin typeface="Prompt Semi-Bold"/>
                <a:ea typeface="Prompt Semi-Bold"/>
                <a:cs typeface="Prompt Semi-Bold"/>
                <a:sym typeface="Prompt Semi-Bold"/>
              </a:rPr>
              <a:t>Multi-party control of secure data (bank vaults, nuclear launch codes, etc.)</a:t>
            </a:r>
          </a:p>
          <a:p>
            <a:pPr algn="l" marL="777240" indent="-388620" lvl="1">
              <a:lnSpc>
                <a:spcPts val="5652"/>
              </a:lnSpc>
              <a:buFont typeface="Arial"/>
              <a:buChar char="•"/>
            </a:pPr>
            <a:r>
              <a:rPr lang="en-US" b="true" sz="3600" spc="-53">
                <a:solidFill>
                  <a:srgbClr val="FFFFFF"/>
                </a:solidFill>
                <a:latin typeface="Prompt Semi-Bold"/>
                <a:ea typeface="Prompt Semi-Bold"/>
                <a:cs typeface="Prompt Semi-Bold"/>
                <a:sym typeface="Prompt Semi-Bold"/>
              </a:rPr>
              <a:t>Secure distribution of cryptographic credentials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253439"/>
        </a:solidFill>
      </p:bgPr>
    </p:bg>
    <p:spTree>
      <p:nvGrpSpPr>
        <p:cNvPr id="1" name=""/>
        <p:cNvGrpSpPr/>
        <p:nvPr/>
      </p:nvGrpSpPr>
      <p:grpSpPr>
        <a:xfrm>
          <a:off x="0" y="0"/>
          <a:ext cx="0" cy="0"/>
          <a:chOff x="0" y="0"/>
          <a:chExt cx="0" cy="0"/>
        </a:xfrm>
      </p:grpSpPr>
      <p:grpSp>
        <p:nvGrpSpPr>
          <p:cNvPr name="Group 2" id="2"/>
          <p:cNvGrpSpPr/>
          <p:nvPr/>
        </p:nvGrpSpPr>
        <p:grpSpPr>
          <a:xfrm rot="0">
            <a:off x="271999" y="271999"/>
            <a:ext cx="10138099" cy="9743002"/>
            <a:chOff x="0" y="0"/>
            <a:chExt cx="845761" cy="812800"/>
          </a:xfrm>
        </p:grpSpPr>
        <p:sp>
          <p:nvSpPr>
            <p:cNvPr name="Freeform 3" id="3"/>
            <p:cNvSpPr/>
            <p:nvPr/>
          </p:nvSpPr>
          <p:spPr>
            <a:xfrm flipH="false" flipV="false" rot="0">
              <a:off x="0" y="0"/>
              <a:ext cx="845761" cy="812800"/>
            </a:xfrm>
            <a:custGeom>
              <a:avLst/>
              <a:gdLst/>
              <a:ahLst/>
              <a:cxnLst/>
              <a:rect r="r" b="b" t="t" l="l"/>
              <a:pathLst>
                <a:path h="812800" w="845761">
                  <a:moveTo>
                    <a:pt x="0" y="0"/>
                  </a:moveTo>
                  <a:lnTo>
                    <a:pt x="845761" y="0"/>
                  </a:lnTo>
                  <a:lnTo>
                    <a:pt x="845761" y="812800"/>
                  </a:lnTo>
                  <a:lnTo>
                    <a:pt x="0" y="812800"/>
                  </a:lnTo>
                  <a:close/>
                </a:path>
              </a:pathLst>
            </a:custGeom>
            <a:blipFill>
              <a:blip r:embed="rId2"/>
              <a:stretch>
                <a:fillRect l="-39815" t="0" r="-39815" b="0"/>
              </a:stretch>
            </a:blipFill>
          </p:spPr>
        </p:sp>
      </p:grpSp>
      <p:grpSp>
        <p:nvGrpSpPr>
          <p:cNvPr name="Group 4" id="4"/>
          <p:cNvGrpSpPr/>
          <p:nvPr/>
        </p:nvGrpSpPr>
        <p:grpSpPr>
          <a:xfrm rot="0">
            <a:off x="11508355" y="3941205"/>
            <a:ext cx="5808095" cy="1717574"/>
            <a:chOff x="0" y="0"/>
            <a:chExt cx="7744127" cy="2290099"/>
          </a:xfrm>
        </p:grpSpPr>
        <p:sp>
          <p:nvSpPr>
            <p:cNvPr name="TextBox 5" id="5"/>
            <p:cNvSpPr txBox="true"/>
            <p:nvPr/>
          </p:nvSpPr>
          <p:spPr>
            <a:xfrm rot="0">
              <a:off x="261282" y="0"/>
              <a:ext cx="7406645" cy="1752600"/>
            </a:xfrm>
            <a:prstGeom prst="rect">
              <a:avLst/>
            </a:prstGeom>
          </p:spPr>
          <p:txBody>
            <a:bodyPr anchor="t" rtlCol="false" tIns="0" lIns="0" bIns="0" rIns="0">
              <a:spAutoFit/>
            </a:bodyPr>
            <a:lstStyle/>
            <a:p>
              <a:pPr algn="l" marL="0" indent="0" lvl="0">
                <a:lnSpc>
                  <a:spcPts val="10395"/>
                </a:lnSpc>
              </a:pPr>
              <a:r>
                <a:rPr lang="en-US" b="true" sz="8662">
                  <a:solidFill>
                    <a:srgbClr val="FFFFFF"/>
                  </a:solidFill>
                  <a:latin typeface="Open Sans Bold"/>
                  <a:ea typeface="Open Sans Bold"/>
                  <a:cs typeface="Open Sans Bold"/>
                  <a:sym typeface="Open Sans Bold"/>
                </a:rPr>
                <a:t>Algorithm</a:t>
              </a:r>
            </a:p>
          </p:txBody>
        </p:sp>
        <p:sp>
          <p:nvSpPr>
            <p:cNvPr name="AutoShape 6" id="6"/>
            <p:cNvSpPr/>
            <p:nvPr/>
          </p:nvSpPr>
          <p:spPr>
            <a:xfrm>
              <a:off x="0" y="2220249"/>
              <a:ext cx="7744127" cy="0"/>
            </a:xfrm>
            <a:prstGeom prst="line">
              <a:avLst/>
            </a:prstGeom>
            <a:ln cap="flat" w="139700">
              <a:solidFill>
                <a:srgbClr val="020622"/>
              </a:solidFill>
              <a:prstDash val="solid"/>
              <a:headEnd type="none" len="sm" w="sm"/>
              <a:tailEnd type="none" len="sm" w="sm"/>
            </a:ln>
          </p:spPr>
        </p:sp>
      </p:grpSp>
    </p:spTree>
  </p:cSld>
  <p:clrMapOvr>
    <a:masterClrMapping/>
  </p:clrMapOvr>
</p:sld>
</file>

<file path=ppt/slides/slide8.xml><?xml version="1.0" encoding="utf-8"?>
<p:sld xmlns:p="http://schemas.openxmlformats.org/presentationml/2006/main" xmlns:a="http://schemas.openxmlformats.org/drawingml/2006/main">
  <p:cSld>
    <p:bg>
      <p:bgPr>
        <a:solidFill>
          <a:srgbClr val="253439"/>
        </a:solidFill>
      </p:bgPr>
    </p:bg>
    <p:spTree>
      <p:nvGrpSpPr>
        <p:cNvPr id="1" name=""/>
        <p:cNvGrpSpPr/>
        <p:nvPr/>
      </p:nvGrpSpPr>
      <p:grpSpPr>
        <a:xfrm>
          <a:off x="0" y="0"/>
          <a:ext cx="0" cy="0"/>
          <a:chOff x="0" y="0"/>
          <a:chExt cx="0" cy="0"/>
        </a:xfrm>
      </p:grpSpPr>
      <p:sp>
        <p:nvSpPr>
          <p:cNvPr name="TextBox 2" id="2"/>
          <p:cNvSpPr txBox="true"/>
          <p:nvPr/>
        </p:nvSpPr>
        <p:spPr>
          <a:xfrm rot="0">
            <a:off x="970836" y="1038225"/>
            <a:ext cx="1271826" cy="487680"/>
          </a:xfrm>
          <a:prstGeom prst="rect">
            <a:avLst/>
          </a:prstGeom>
        </p:spPr>
        <p:txBody>
          <a:bodyPr anchor="t" rtlCol="false" tIns="0" lIns="0" bIns="0" rIns="0">
            <a:spAutoFit/>
          </a:bodyPr>
          <a:lstStyle/>
          <a:p>
            <a:pPr algn="ctr">
              <a:lnSpc>
                <a:spcPts val="3794"/>
              </a:lnSpc>
              <a:spcBef>
                <a:spcPct val="0"/>
              </a:spcBef>
            </a:pPr>
            <a:r>
              <a:rPr lang="en-US" sz="3299" spc="-49">
                <a:solidFill>
                  <a:srgbClr val="FFFFFF"/>
                </a:solidFill>
                <a:latin typeface="Prompt"/>
                <a:ea typeface="Prompt"/>
                <a:cs typeface="Prompt"/>
                <a:sym typeface="Prompt"/>
              </a:rPr>
              <a:t>Step-1:</a:t>
            </a:r>
          </a:p>
        </p:txBody>
      </p:sp>
      <p:sp>
        <p:nvSpPr>
          <p:cNvPr name="TextBox 3" id="3"/>
          <p:cNvSpPr txBox="true"/>
          <p:nvPr/>
        </p:nvSpPr>
        <p:spPr>
          <a:xfrm rot="0">
            <a:off x="890740" y="1781622"/>
            <a:ext cx="12417063" cy="7860039"/>
          </a:xfrm>
          <a:prstGeom prst="rect">
            <a:avLst/>
          </a:prstGeom>
        </p:spPr>
        <p:txBody>
          <a:bodyPr anchor="t" rtlCol="false" tIns="0" lIns="0" bIns="0" rIns="0">
            <a:spAutoFit/>
          </a:bodyPr>
          <a:lstStyle/>
          <a:p>
            <a:pPr algn="l">
              <a:lnSpc>
                <a:spcPts val="4135"/>
              </a:lnSpc>
              <a:spcBef>
                <a:spcPct val="0"/>
              </a:spcBef>
            </a:pPr>
            <a:r>
              <a:rPr lang="en-US" sz="3595" spc="-53">
                <a:solidFill>
                  <a:srgbClr val="FFFFFF"/>
                </a:solidFill>
                <a:latin typeface="Prompt"/>
                <a:ea typeface="Prompt"/>
                <a:cs typeface="Prompt"/>
                <a:sym typeface="Prompt"/>
              </a:rPr>
              <a:t>Select:</a:t>
            </a:r>
          </a:p>
          <a:p>
            <a:pPr algn="ctr">
              <a:lnSpc>
                <a:spcPts val="4135"/>
              </a:lnSpc>
              <a:spcBef>
                <a:spcPct val="0"/>
              </a:spcBef>
            </a:pPr>
          </a:p>
          <a:p>
            <a:pPr algn="ctr" marL="776313" indent="-388157" lvl="1">
              <a:lnSpc>
                <a:spcPts val="4135"/>
              </a:lnSpc>
              <a:buFont typeface="Arial"/>
              <a:buChar char="•"/>
            </a:pPr>
            <a:r>
              <a:rPr lang="en-US" sz="3595" spc="-53">
                <a:solidFill>
                  <a:srgbClr val="FFFFFF"/>
                </a:solidFill>
                <a:latin typeface="Prompt"/>
                <a:ea typeface="Prompt"/>
                <a:cs typeface="Prompt"/>
                <a:sym typeface="Prompt"/>
              </a:rPr>
              <a:t>Secret S∈Zp (convert message to number if needed)</a:t>
            </a:r>
          </a:p>
          <a:p>
            <a:pPr algn="l" marL="776313" indent="-388157" lvl="1">
              <a:lnSpc>
                <a:spcPts val="4135"/>
              </a:lnSpc>
              <a:buFont typeface="Arial"/>
              <a:buChar char="•"/>
            </a:pPr>
            <a:r>
              <a:rPr lang="en-US" sz="3595" spc="-53">
                <a:solidFill>
                  <a:srgbClr val="FFFFFF"/>
                </a:solidFill>
                <a:latin typeface="Prompt"/>
                <a:ea typeface="Prompt"/>
                <a:cs typeface="Prompt"/>
                <a:sym typeface="Prompt"/>
              </a:rPr>
              <a:t>Prime p&gt;max⁡(S,n,any f(x))</a:t>
            </a:r>
          </a:p>
          <a:p>
            <a:pPr algn="l" marL="776313" indent="-388157" lvl="1">
              <a:lnSpc>
                <a:spcPts val="4135"/>
              </a:lnSpc>
              <a:buFont typeface="Arial"/>
              <a:buChar char="•"/>
            </a:pPr>
            <a:r>
              <a:rPr lang="en-US" sz="3595" spc="-53">
                <a:solidFill>
                  <a:srgbClr val="FFFFFF"/>
                </a:solidFill>
                <a:latin typeface="Prompt"/>
                <a:ea typeface="Prompt"/>
                <a:cs typeface="Prompt"/>
                <a:sym typeface="Prompt"/>
              </a:rPr>
              <a:t>n: number of shares to create</a:t>
            </a:r>
          </a:p>
          <a:p>
            <a:pPr algn="l" marL="776313" indent="-388157" lvl="1">
              <a:lnSpc>
                <a:spcPts val="4135"/>
              </a:lnSpc>
              <a:buFont typeface="Arial"/>
              <a:buChar char="•"/>
            </a:pPr>
            <a:r>
              <a:rPr lang="en-US" sz="3595" spc="-53">
                <a:solidFill>
                  <a:srgbClr val="FFFFFF"/>
                </a:solidFill>
                <a:latin typeface="Prompt"/>
                <a:ea typeface="Prompt"/>
                <a:cs typeface="Prompt"/>
                <a:sym typeface="Prompt"/>
              </a:rPr>
              <a:t>k: threshold needed to reconstruct the secret</a:t>
            </a:r>
          </a:p>
          <a:p>
            <a:pPr algn="l">
              <a:lnSpc>
                <a:spcPts val="4135"/>
              </a:lnSpc>
              <a:spcBef>
                <a:spcPct val="0"/>
              </a:spcBef>
            </a:pPr>
            <a:r>
              <a:rPr lang="en-US" sz="3595" i="true" spc="-53">
                <a:solidFill>
                  <a:srgbClr val="FFFFFF"/>
                </a:solidFill>
                <a:latin typeface="Prompt Italics"/>
                <a:ea typeface="Prompt Italics"/>
                <a:cs typeface="Prompt Italics"/>
                <a:sym typeface="Prompt Italics"/>
              </a:rPr>
              <a:t>Step-2:</a:t>
            </a:r>
          </a:p>
          <a:p>
            <a:pPr algn="ctr">
              <a:lnSpc>
                <a:spcPts val="4135"/>
              </a:lnSpc>
              <a:spcBef>
                <a:spcPct val="0"/>
              </a:spcBef>
            </a:pPr>
            <a:r>
              <a:rPr lang="en-US" sz="3595" spc="-53">
                <a:solidFill>
                  <a:srgbClr val="FFFFFF"/>
                </a:solidFill>
                <a:latin typeface="Prompt"/>
                <a:ea typeface="Prompt"/>
                <a:cs typeface="Prompt"/>
                <a:sym typeface="Prompt"/>
              </a:rPr>
              <a:t>Generate a random polynomial of degree k−1 over Zp:</a:t>
            </a:r>
          </a:p>
          <a:p>
            <a:pPr algn="ctr">
              <a:lnSpc>
                <a:spcPts val="4135"/>
              </a:lnSpc>
              <a:spcBef>
                <a:spcPct val="0"/>
              </a:spcBef>
            </a:pPr>
            <a:r>
              <a:rPr lang="en-US" sz="3595" spc="-53">
                <a:solidFill>
                  <a:srgbClr val="FFFFFF"/>
                </a:solidFill>
                <a:latin typeface="Prompt"/>
                <a:ea typeface="Prompt"/>
                <a:cs typeface="Prompt"/>
                <a:sym typeface="Prompt"/>
              </a:rPr>
              <a:t>f(x)=a0+a1x+a2x2+⋯+ak−1x^k-1(modp)</a:t>
            </a:r>
          </a:p>
          <a:p>
            <a:pPr algn="just" marL="776313" indent="-388157" lvl="1">
              <a:lnSpc>
                <a:spcPts val="4135"/>
              </a:lnSpc>
              <a:buFont typeface="Arial"/>
              <a:buChar char="•"/>
            </a:pPr>
            <a:r>
              <a:rPr lang="en-US" sz="3595" spc="-53">
                <a:solidFill>
                  <a:srgbClr val="FFFFFF"/>
                </a:solidFill>
                <a:latin typeface="Prompt"/>
                <a:ea typeface="Prompt"/>
                <a:cs typeface="Prompt"/>
                <a:sym typeface="Prompt"/>
              </a:rPr>
              <a:t>Set a0=S</a:t>
            </a:r>
          </a:p>
          <a:p>
            <a:pPr algn="l" marL="776313" indent="-388157" lvl="1">
              <a:lnSpc>
                <a:spcPts val="4135"/>
              </a:lnSpc>
              <a:buFont typeface="Arial"/>
              <a:buChar char="•"/>
            </a:pPr>
            <a:r>
              <a:rPr lang="en-US" sz="3595" spc="-53">
                <a:solidFill>
                  <a:srgbClr val="FFFFFF"/>
                </a:solidFill>
                <a:latin typeface="Prompt"/>
                <a:ea typeface="Prompt"/>
                <a:cs typeface="Prompt"/>
                <a:sym typeface="Prompt"/>
              </a:rPr>
              <a:t>Choose a1,a2,…,ak−1∈Z randomly</a:t>
            </a:r>
          </a:p>
          <a:p>
            <a:pPr algn="l">
              <a:lnSpc>
                <a:spcPts val="4135"/>
              </a:lnSpc>
              <a:spcBef>
                <a:spcPct val="0"/>
              </a:spcBef>
            </a:pPr>
            <a:r>
              <a:rPr lang="en-US" sz="3595" spc="-53">
                <a:solidFill>
                  <a:srgbClr val="FFFFFF"/>
                </a:solidFill>
                <a:latin typeface="Prompt"/>
                <a:ea typeface="Prompt"/>
                <a:cs typeface="Prompt"/>
                <a:sym typeface="Prompt"/>
              </a:rPr>
              <a:t>Step-3:</a:t>
            </a:r>
          </a:p>
          <a:p>
            <a:pPr algn="l">
              <a:lnSpc>
                <a:spcPts val="4135"/>
              </a:lnSpc>
              <a:spcBef>
                <a:spcPct val="0"/>
              </a:spcBef>
            </a:pPr>
            <a:r>
              <a:rPr lang="en-US" sz="3595" spc="-53">
                <a:solidFill>
                  <a:srgbClr val="FFFFFF"/>
                </a:solidFill>
                <a:latin typeface="Prompt"/>
                <a:ea typeface="Prompt"/>
                <a:cs typeface="Prompt"/>
                <a:sym typeface="Prompt"/>
              </a:rPr>
              <a:t>For each i=1 to n, compute:</a:t>
            </a:r>
          </a:p>
          <a:p>
            <a:pPr algn="ctr">
              <a:lnSpc>
                <a:spcPts val="4135"/>
              </a:lnSpc>
              <a:spcBef>
                <a:spcPct val="0"/>
              </a:spcBef>
            </a:pPr>
            <a:r>
              <a:rPr lang="en-US" sz="3595" spc="-53">
                <a:solidFill>
                  <a:srgbClr val="FFFFFF"/>
                </a:solidFill>
                <a:latin typeface="Prompt"/>
                <a:ea typeface="Prompt"/>
                <a:cs typeface="Prompt"/>
                <a:sym typeface="Prompt"/>
              </a:rPr>
              <a:t>Sharei=(i,f(i) mod p)</a:t>
            </a:r>
          </a:p>
          <a:p>
            <a:pPr algn="ctr">
              <a:lnSpc>
                <a:spcPts val="4135"/>
              </a:lnSpc>
              <a:spcBef>
                <a:spcPct val="0"/>
              </a:spcBef>
            </a:pPr>
            <a:r>
              <a:rPr lang="en-US" sz="3595" spc="-53">
                <a:solidFill>
                  <a:srgbClr val="FFFFFF"/>
                </a:solidFill>
                <a:latin typeface="Prompt"/>
                <a:ea typeface="Prompt"/>
                <a:cs typeface="Prompt"/>
                <a:sym typeface="Prompt"/>
              </a:rPr>
              <a:t>Distribute these shares to participants.</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253439"/>
        </a:solidFill>
      </p:bgPr>
    </p:bg>
    <p:spTree>
      <p:nvGrpSpPr>
        <p:cNvPr id="1" name=""/>
        <p:cNvGrpSpPr/>
        <p:nvPr/>
      </p:nvGrpSpPr>
      <p:grpSpPr>
        <a:xfrm>
          <a:off x="0" y="0"/>
          <a:ext cx="0" cy="0"/>
          <a:chOff x="0" y="0"/>
          <a:chExt cx="0" cy="0"/>
        </a:xfrm>
      </p:grpSpPr>
      <p:sp>
        <p:nvSpPr>
          <p:cNvPr name="TextBox 2" id="2"/>
          <p:cNvSpPr txBox="true"/>
          <p:nvPr/>
        </p:nvSpPr>
        <p:spPr>
          <a:xfrm rot="0">
            <a:off x="854638" y="1990057"/>
            <a:ext cx="17166803" cy="6325936"/>
          </a:xfrm>
          <a:prstGeom prst="rect">
            <a:avLst/>
          </a:prstGeom>
        </p:spPr>
        <p:txBody>
          <a:bodyPr anchor="t" rtlCol="false" tIns="0" lIns="0" bIns="0" rIns="0">
            <a:spAutoFit/>
          </a:bodyPr>
          <a:lstStyle/>
          <a:p>
            <a:pPr algn="l">
              <a:lnSpc>
                <a:spcPts val="4926"/>
              </a:lnSpc>
              <a:spcBef>
                <a:spcPct val="0"/>
              </a:spcBef>
            </a:pPr>
            <a:r>
              <a:rPr lang="en-US" sz="4284" spc="-64">
                <a:solidFill>
                  <a:srgbClr val="FFFFFF"/>
                </a:solidFill>
                <a:latin typeface="Prompt"/>
                <a:ea typeface="Prompt"/>
                <a:cs typeface="Prompt"/>
                <a:sym typeface="Prompt"/>
              </a:rPr>
              <a:t>Step-4:</a:t>
            </a:r>
          </a:p>
          <a:p>
            <a:pPr algn="l" marL="924980" indent="-462490" lvl="1">
              <a:lnSpc>
                <a:spcPts val="4926"/>
              </a:lnSpc>
              <a:buFont typeface="Arial"/>
              <a:buChar char="•"/>
            </a:pPr>
            <a:r>
              <a:rPr lang="en-US" sz="4284" spc="-64">
                <a:solidFill>
                  <a:srgbClr val="FFFFFF"/>
                </a:solidFill>
                <a:latin typeface="Prompt"/>
                <a:ea typeface="Prompt"/>
                <a:cs typeface="Prompt"/>
                <a:sym typeface="Prompt"/>
              </a:rPr>
              <a:t> If less than k shares are available: </a:t>
            </a:r>
          </a:p>
          <a:p>
            <a:pPr algn="l" marL="924980" indent="-462490" lvl="1">
              <a:lnSpc>
                <a:spcPts val="4926"/>
              </a:lnSpc>
              <a:buFont typeface="Arial"/>
              <a:buChar char="•"/>
            </a:pPr>
            <a:r>
              <a:rPr lang="en-US" sz="4284" spc="-64">
                <a:solidFill>
                  <a:srgbClr val="FFFFFF"/>
                </a:solidFill>
                <a:latin typeface="Prompt"/>
                <a:ea typeface="Prompt"/>
                <a:cs typeface="Prompt"/>
                <a:sym typeface="Prompt"/>
              </a:rPr>
              <a:t>Secret cannot be recovered </a:t>
            </a:r>
          </a:p>
          <a:p>
            <a:pPr algn="l" marL="924980" indent="-462490" lvl="1">
              <a:lnSpc>
                <a:spcPts val="4926"/>
              </a:lnSpc>
              <a:buFont typeface="Arial"/>
              <a:buChar char="•"/>
            </a:pPr>
            <a:r>
              <a:rPr lang="en-US" sz="4284" spc="-64">
                <a:solidFill>
                  <a:srgbClr val="FFFFFF"/>
                </a:solidFill>
                <a:latin typeface="Prompt"/>
                <a:ea typeface="Prompt"/>
                <a:cs typeface="Prompt"/>
                <a:sym typeface="Prompt"/>
              </a:rPr>
              <a:t>Trigger backup alert or log failure for audit </a:t>
            </a:r>
          </a:p>
          <a:p>
            <a:pPr algn="l" marL="924980" indent="-462490" lvl="1">
              <a:lnSpc>
                <a:spcPts val="4926"/>
              </a:lnSpc>
              <a:buFont typeface="Arial"/>
              <a:buChar char="•"/>
            </a:pPr>
            <a:r>
              <a:rPr lang="en-US" sz="4284" spc="-64">
                <a:solidFill>
                  <a:srgbClr val="FFFFFF"/>
                </a:solidFill>
                <a:latin typeface="Prompt"/>
                <a:ea typeface="Prompt"/>
                <a:cs typeface="Prompt"/>
                <a:sym typeface="Prompt"/>
              </a:rPr>
              <a:t>May notify administrator or take fail-safe action </a:t>
            </a:r>
          </a:p>
          <a:p>
            <a:pPr algn="l">
              <a:lnSpc>
                <a:spcPts val="4926"/>
              </a:lnSpc>
              <a:spcBef>
                <a:spcPct val="0"/>
              </a:spcBef>
            </a:pPr>
            <a:r>
              <a:rPr lang="en-US" sz="4284" spc="-64">
                <a:solidFill>
                  <a:srgbClr val="FFFFFF"/>
                </a:solidFill>
                <a:latin typeface="Prompt"/>
                <a:ea typeface="Prompt"/>
                <a:cs typeface="Prompt"/>
                <a:sym typeface="Prompt"/>
              </a:rPr>
              <a:t>STEP-5: </a:t>
            </a:r>
          </a:p>
          <a:p>
            <a:pPr algn="l" marL="924980" indent="-462490" lvl="1">
              <a:lnSpc>
                <a:spcPts val="4926"/>
              </a:lnSpc>
              <a:buFont typeface="Arial"/>
              <a:buChar char="•"/>
            </a:pPr>
            <a:r>
              <a:rPr lang="en-US" sz="4284" spc="-64">
                <a:solidFill>
                  <a:srgbClr val="FFFFFF"/>
                </a:solidFill>
                <a:latin typeface="Prompt"/>
                <a:ea typeface="Prompt"/>
                <a:cs typeface="Prompt"/>
                <a:sym typeface="Prompt"/>
              </a:rPr>
              <a:t>Once the secret S is recovered: </a:t>
            </a:r>
          </a:p>
          <a:p>
            <a:pPr algn="l" marL="924980" indent="-462490" lvl="1">
              <a:lnSpc>
                <a:spcPts val="4926"/>
              </a:lnSpc>
              <a:buFont typeface="Arial"/>
              <a:buChar char="•"/>
            </a:pPr>
            <a:r>
              <a:rPr lang="en-US" sz="4284" spc="-64">
                <a:solidFill>
                  <a:srgbClr val="FFFFFF"/>
                </a:solidFill>
                <a:latin typeface="Prompt"/>
                <a:ea typeface="Prompt"/>
                <a:cs typeface="Prompt"/>
                <a:sym typeface="Prompt"/>
              </a:rPr>
              <a:t>Decrypt file/message </a:t>
            </a:r>
          </a:p>
          <a:p>
            <a:pPr algn="l" marL="924980" indent="-462490" lvl="1">
              <a:lnSpc>
                <a:spcPts val="4926"/>
              </a:lnSpc>
              <a:buFont typeface="Arial"/>
              <a:buChar char="•"/>
            </a:pPr>
            <a:r>
              <a:rPr lang="en-US" sz="4284" spc="-64">
                <a:solidFill>
                  <a:srgbClr val="FFFFFF"/>
                </a:solidFill>
                <a:latin typeface="Prompt"/>
                <a:ea typeface="Prompt"/>
                <a:cs typeface="Prompt"/>
                <a:sym typeface="Prompt"/>
              </a:rPr>
              <a:t>Send to predefined contacts </a:t>
            </a:r>
          </a:p>
          <a:p>
            <a:pPr algn="l" marL="924980" indent="-462490" lvl="1">
              <a:lnSpc>
                <a:spcPts val="6297"/>
              </a:lnSpc>
              <a:buFont typeface="Arial"/>
              <a:buChar char="•"/>
            </a:pPr>
            <a:r>
              <a:rPr lang="en-US" sz="4284" spc="111">
                <a:solidFill>
                  <a:srgbClr val="FFFFFF"/>
                </a:solidFill>
                <a:latin typeface="Prompt"/>
                <a:ea typeface="Prompt"/>
                <a:cs typeface="Prompt"/>
                <a:sym typeface="Prompt"/>
              </a:rPr>
              <a:t>Publish online or activate emergency protocols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253439"/>
        </a:solidFill>
      </p:bgPr>
    </p:bg>
    <p:spTree>
      <p:nvGrpSpPr>
        <p:cNvPr id="1" name=""/>
        <p:cNvGrpSpPr/>
        <p:nvPr/>
      </p:nvGrpSpPr>
      <p:grpSpPr>
        <a:xfrm>
          <a:off x="0" y="0"/>
          <a:ext cx="0" cy="0"/>
          <a:chOff x="0" y="0"/>
          <a:chExt cx="0" cy="0"/>
        </a:xfrm>
      </p:grpSpPr>
      <p:grpSp>
        <p:nvGrpSpPr>
          <p:cNvPr name="Group 2" id="2"/>
          <p:cNvGrpSpPr/>
          <p:nvPr/>
        </p:nvGrpSpPr>
        <p:grpSpPr>
          <a:xfrm rot="0">
            <a:off x="3338707" y="4353788"/>
            <a:ext cx="12741423" cy="2537526"/>
            <a:chOff x="0" y="0"/>
            <a:chExt cx="16988563" cy="3383368"/>
          </a:xfrm>
        </p:grpSpPr>
        <p:sp>
          <p:nvSpPr>
            <p:cNvPr name="TextBox 3" id="3"/>
            <p:cNvSpPr txBox="true"/>
            <p:nvPr/>
          </p:nvSpPr>
          <p:spPr>
            <a:xfrm rot="0">
              <a:off x="0" y="2760646"/>
              <a:ext cx="16988563" cy="622723"/>
            </a:xfrm>
            <a:prstGeom prst="rect">
              <a:avLst/>
            </a:prstGeom>
          </p:spPr>
          <p:txBody>
            <a:bodyPr anchor="t" rtlCol="false" tIns="0" lIns="0" bIns="0" rIns="0">
              <a:spAutoFit/>
            </a:bodyPr>
            <a:lstStyle/>
            <a:p>
              <a:pPr algn="l" marL="0" indent="0" lvl="0">
                <a:lnSpc>
                  <a:spcPts val="3920"/>
                </a:lnSpc>
                <a:spcBef>
                  <a:spcPct val="0"/>
                </a:spcBef>
              </a:pPr>
            </a:p>
          </p:txBody>
        </p:sp>
        <p:sp>
          <p:nvSpPr>
            <p:cNvPr name="TextBox 4" id="4"/>
            <p:cNvSpPr txBox="true"/>
            <p:nvPr/>
          </p:nvSpPr>
          <p:spPr>
            <a:xfrm rot="0">
              <a:off x="0" y="180975"/>
              <a:ext cx="16988563" cy="1740957"/>
            </a:xfrm>
            <a:prstGeom prst="rect">
              <a:avLst/>
            </a:prstGeom>
          </p:spPr>
          <p:txBody>
            <a:bodyPr anchor="t" rtlCol="false" tIns="0" lIns="0" bIns="0" rIns="0">
              <a:spAutoFit/>
            </a:bodyPr>
            <a:lstStyle/>
            <a:p>
              <a:pPr algn="l" marL="0" indent="0" lvl="0">
                <a:lnSpc>
                  <a:spcPts val="9499"/>
                </a:lnSpc>
              </a:pPr>
              <a:r>
                <a:rPr lang="en-US" b="true" sz="9499">
                  <a:solidFill>
                    <a:srgbClr val="FFFFFF"/>
                  </a:solidFill>
                  <a:latin typeface="Open Sans Bold"/>
                  <a:ea typeface="Open Sans Bold"/>
                  <a:cs typeface="Open Sans Bold"/>
                  <a:sym typeface="Open Sans Bold"/>
                </a:rPr>
                <a:t>EXAMPLE</a:t>
              </a:r>
            </a:p>
          </p:txBody>
        </p:sp>
      </p:grpSp>
      <p:sp>
        <p:nvSpPr>
          <p:cNvPr name="Freeform 5" id="5"/>
          <p:cNvSpPr/>
          <p:nvPr/>
        </p:nvSpPr>
        <p:spPr>
          <a:xfrm flipH="false" flipV="false" rot="0">
            <a:off x="1266626" y="3777249"/>
            <a:ext cx="1367991" cy="2732501"/>
          </a:xfrm>
          <a:custGeom>
            <a:avLst/>
            <a:gdLst/>
            <a:ahLst/>
            <a:cxnLst/>
            <a:rect r="r" b="b" t="t" l="l"/>
            <a:pathLst>
              <a:path h="2732501" w="1367991">
                <a:moveTo>
                  <a:pt x="0" y="0"/>
                </a:moveTo>
                <a:lnTo>
                  <a:pt x="1367991" y="0"/>
                </a:lnTo>
                <a:lnTo>
                  <a:pt x="1367991" y="2732502"/>
                </a:lnTo>
                <a:lnTo>
                  <a:pt x="0" y="27325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p:cSld>
    <p:bg>
      <p:bgPr>
        <a:solidFill>
          <a:srgbClr val="253439"/>
        </a:solidFill>
      </p:bgPr>
    </p:bg>
    <p:spTree>
      <p:nvGrpSpPr>
        <p:cNvPr id="1" name=""/>
        <p:cNvGrpSpPr/>
        <p:nvPr/>
      </p:nvGrpSpPr>
      <p:grpSpPr>
        <a:xfrm>
          <a:off x="0" y="0"/>
          <a:ext cx="0" cy="0"/>
          <a:chOff x="0" y="0"/>
          <a:chExt cx="0" cy="0"/>
        </a:xfrm>
      </p:grpSpPr>
      <p:sp>
        <p:nvSpPr>
          <p:cNvPr name="TextBox 2" id="2"/>
          <p:cNvSpPr txBox="true"/>
          <p:nvPr/>
        </p:nvSpPr>
        <p:spPr>
          <a:xfrm rot="0">
            <a:off x="230464" y="289104"/>
            <a:ext cx="18204839" cy="1402991"/>
          </a:xfrm>
          <a:prstGeom prst="rect">
            <a:avLst/>
          </a:prstGeom>
        </p:spPr>
        <p:txBody>
          <a:bodyPr anchor="t" rtlCol="false" tIns="0" lIns="0" bIns="0" rIns="0">
            <a:spAutoFit/>
          </a:bodyPr>
          <a:lstStyle/>
          <a:p>
            <a:pPr algn="just">
              <a:lnSpc>
                <a:spcPts val="3813"/>
              </a:lnSpc>
            </a:pPr>
            <a:r>
              <a:rPr lang="en-US" sz="2508" spc="-37">
                <a:solidFill>
                  <a:srgbClr val="FFFFFF"/>
                </a:solidFill>
                <a:latin typeface="Prompt"/>
                <a:ea typeface="Prompt"/>
                <a:cs typeface="Prompt"/>
                <a:sym typeface="Prompt"/>
              </a:rPr>
              <a:t>Numerical Example:</a:t>
            </a:r>
          </a:p>
          <a:p>
            <a:pPr algn="just">
              <a:lnSpc>
                <a:spcPts val="3813"/>
              </a:lnSpc>
            </a:pPr>
            <a:r>
              <a:rPr lang="en-US" sz="2508" spc="-37">
                <a:solidFill>
                  <a:srgbClr val="FFFFFF"/>
                </a:solidFill>
                <a:latin typeface="Prompt"/>
                <a:ea typeface="Prompt"/>
                <a:cs typeface="Prompt"/>
                <a:sym typeface="Prompt"/>
              </a:rPr>
              <a:t>Given a secret S = 1234, n = 5, k = 3, and a polynomial f(x) = 1234 + 45x + 12x², compute the shares for x = 1 to x = 5?</a:t>
            </a:r>
          </a:p>
          <a:p>
            <a:pPr algn="just">
              <a:lnSpc>
                <a:spcPts val="3813"/>
              </a:lnSpc>
            </a:pPr>
            <a:r>
              <a:rPr lang="en-US" sz="2508" spc="-37">
                <a:solidFill>
                  <a:srgbClr val="FFFFFF"/>
                </a:solidFill>
                <a:latin typeface="Prompt"/>
                <a:ea typeface="Prompt"/>
                <a:cs typeface="Prompt"/>
                <a:sym typeface="Prompt"/>
              </a:rPr>
              <a:t> </a:t>
            </a:r>
          </a:p>
        </p:txBody>
      </p:sp>
      <p:sp>
        <p:nvSpPr>
          <p:cNvPr name="TextBox 3" id="3"/>
          <p:cNvSpPr txBox="true"/>
          <p:nvPr/>
        </p:nvSpPr>
        <p:spPr>
          <a:xfrm rot="0">
            <a:off x="491102" y="2865145"/>
            <a:ext cx="17683564" cy="2984325"/>
          </a:xfrm>
          <a:prstGeom prst="rect">
            <a:avLst/>
          </a:prstGeom>
        </p:spPr>
        <p:txBody>
          <a:bodyPr anchor="t" rtlCol="false" tIns="0" lIns="0" bIns="0" rIns="0">
            <a:spAutoFit/>
          </a:bodyPr>
          <a:lstStyle/>
          <a:p>
            <a:pPr algn="l">
              <a:lnSpc>
                <a:spcPts val="3390"/>
              </a:lnSpc>
              <a:spcBef>
                <a:spcPct val="0"/>
              </a:spcBef>
            </a:pPr>
            <a:r>
              <a:rPr lang="en-US" sz="2947" spc="-44">
                <a:solidFill>
                  <a:srgbClr val="FFFFFF"/>
                </a:solidFill>
                <a:latin typeface="Prompt"/>
                <a:ea typeface="Prompt"/>
                <a:cs typeface="Prompt"/>
                <a:sym typeface="Prompt"/>
              </a:rPr>
              <a:t>Given that: </a:t>
            </a:r>
          </a:p>
          <a:p>
            <a:pPr algn="l">
              <a:lnSpc>
                <a:spcPts val="3390"/>
              </a:lnSpc>
              <a:spcBef>
                <a:spcPct val="0"/>
              </a:spcBef>
            </a:pPr>
            <a:r>
              <a:rPr lang="en-US" sz="2947" spc="-44">
                <a:solidFill>
                  <a:srgbClr val="FFFFFF"/>
                </a:solidFill>
                <a:latin typeface="Prompt"/>
                <a:ea typeface="Prompt"/>
                <a:cs typeface="Prompt"/>
                <a:sym typeface="Prompt"/>
              </a:rPr>
              <a:t>S= 1234</a:t>
            </a:r>
          </a:p>
          <a:p>
            <a:pPr algn="l">
              <a:lnSpc>
                <a:spcPts val="3390"/>
              </a:lnSpc>
              <a:spcBef>
                <a:spcPct val="0"/>
              </a:spcBef>
            </a:pPr>
            <a:r>
              <a:rPr lang="en-US" sz="2947" spc="-44">
                <a:solidFill>
                  <a:srgbClr val="FFFFFF"/>
                </a:solidFill>
                <a:latin typeface="Prompt"/>
                <a:ea typeface="Prompt"/>
                <a:cs typeface="Prompt"/>
                <a:sym typeface="Prompt"/>
              </a:rPr>
              <a:t> N= 5</a:t>
            </a:r>
          </a:p>
          <a:p>
            <a:pPr algn="l">
              <a:lnSpc>
                <a:spcPts val="3390"/>
              </a:lnSpc>
              <a:spcBef>
                <a:spcPct val="0"/>
              </a:spcBef>
            </a:pPr>
            <a:r>
              <a:rPr lang="en-US" sz="2947" spc="-44">
                <a:solidFill>
                  <a:srgbClr val="FFFFFF"/>
                </a:solidFill>
                <a:latin typeface="Prompt"/>
                <a:ea typeface="Prompt"/>
                <a:cs typeface="Prompt"/>
                <a:sym typeface="Prompt"/>
              </a:rPr>
              <a:t> K= 3 </a:t>
            </a:r>
          </a:p>
          <a:p>
            <a:pPr algn="l">
              <a:lnSpc>
                <a:spcPts val="3390"/>
              </a:lnSpc>
              <a:spcBef>
                <a:spcPct val="0"/>
              </a:spcBef>
            </a:pPr>
            <a:r>
              <a:rPr lang="en-US" sz="2947" spc="-44">
                <a:solidFill>
                  <a:srgbClr val="FFFFFF"/>
                </a:solidFill>
                <a:latin typeface="Prompt"/>
                <a:ea typeface="Prompt"/>
                <a:cs typeface="Prompt"/>
                <a:sym typeface="Prompt"/>
              </a:rPr>
              <a:t>A1=45,A2=12 </a:t>
            </a:r>
          </a:p>
          <a:p>
            <a:pPr algn="l">
              <a:lnSpc>
                <a:spcPts val="3390"/>
              </a:lnSpc>
              <a:spcBef>
                <a:spcPct val="0"/>
              </a:spcBef>
            </a:pPr>
            <a:r>
              <a:rPr lang="en-US" sz="2947" spc="-44">
                <a:solidFill>
                  <a:srgbClr val="FFFFFF"/>
                </a:solidFill>
                <a:latin typeface="Prompt"/>
                <a:ea typeface="Prompt"/>
                <a:cs typeface="Prompt"/>
                <a:sym typeface="Prompt"/>
              </a:rPr>
              <a:t>P=2027 because max n=5 sub in step 2 equation we will get 1759 so P should be greater than 1759.</a:t>
            </a:r>
          </a:p>
          <a:p>
            <a:pPr algn="just">
              <a:lnSpc>
                <a:spcPts val="3390"/>
              </a:lnSpc>
              <a:spcBef>
                <a:spcPct val="0"/>
              </a:spcBef>
            </a:pPr>
            <a:r>
              <a:rPr lang="en-US" sz="2947" spc="-44">
                <a:solidFill>
                  <a:srgbClr val="FFFFFF"/>
                </a:solidFill>
                <a:latin typeface="Prompt"/>
                <a:ea typeface="Prompt"/>
                <a:cs typeface="Prompt"/>
                <a:sym typeface="Prompt"/>
              </a:rPr>
              <a:t> You need any 3 shares to recover the secret.</a:t>
            </a:r>
          </a:p>
        </p:txBody>
      </p:sp>
      <p:sp>
        <p:nvSpPr>
          <p:cNvPr name="TextBox 4" id="4"/>
          <p:cNvSpPr txBox="true"/>
          <p:nvPr/>
        </p:nvSpPr>
        <p:spPr>
          <a:xfrm rot="0">
            <a:off x="229944" y="2035643"/>
            <a:ext cx="1351121" cy="398145"/>
          </a:xfrm>
          <a:prstGeom prst="rect">
            <a:avLst/>
          </a:prstGeom>
        </p:spPr>
        <p:txBody>
          <a:bodyPr anchor="t" rtlCol="false" tIns="0" lIns="0" bIns="0" rIns="0">
            <a:spAutoFit/>
          </a:bodyPr>
          <a:lstStyle/>
          <a:p>
            <a:pPr algn="ctr">
              <a:lnSpc>
                <a:spcPts val="3104"/>
              </a:lnSpc>
              <a:spcBef>
                <a:spcPct val="0"/>
              </a:spcBef>
            </a:pPr>
            <a:r>
              <a:rPr lang="en-US" sz="2700" spc="-40">
                <a:solidFill>
                  <a:srgbClr val="FFFFFF"/>
                </a:solidFill>
                <a:latin typeface="Prompt"/>
                <a:ea typeface="Prompt"/>
                <a:cs typeface="Prompt"/>
                <a:sym typeface="Prompt"/>
              </a:rPr>
              <a:t>Solution:</a:t>
            </a:r>
          </a:p>
        </p:txBody>
      </p:sp>
      <p:sp>
        <p:nvSpPr>
          <p:cNvPr name="TextBox 5" id="5"/>
          <p:cNvSpPr txBox="true"/>
          <p:nvPr/>
        </p:nvSpPr>
        <p:spPr>
          <a:xfrm rot="0">
            <a:off x="625076" y="6420406"/>
            <a:ext cx="14212303" cy="2573891"/>
          </a:xfrm>
          <a:prstGeom prst="rect">
            <a:avLst/>
          </a:prstGeom>
        </p:spPr>
        <p:txBody>
          <a:bodyPr anchor="t" rtlCol="false" tIns="0" lIns="0" bIns="0" rIns="0">
            <a:spAutoFit/>
          </a:bodyPr>
          <a:lstStyle/>
          <a:p>
            <a:pPr algn="l">
              <a:lnSpc>
                <a:spcPts val="4072"/>
              </a:lnSpc>
              <a:spcBef>
                <a:spcPct val="0"/>
              </a:spcBef>
            </a:pPr>
            <a:r>
              <a:rPr lang="en-US" sz="3541" spc="-53">
                <a:solidFill>
                  <a:srgbClr val="FFFFFF"/>
                </a:solidFill>
                <a:latin typeface="Prompt"/>
                <a:ea typeface="Prompt"/>
                <a:cs typeface="Prompt"/>
                <a:sym typeface="Prompt"/>
              </a:rPr>
              <a:t>Now We randomly choose a polynomial of degree k-1 = 2:</a:t>
            </a:r>
          </a:p>
          <a:p>
            <a:pPr algn="l">
              <a:lnSpc>
                <a:spcPts val="4072"/>
              </a:lnSpc>
              <a:spcBef>
                <a:spcPct val="0"/>
              </a:spcBef>
            </a:pPr>
            <a:r>
              <a:rPr lang="en-US" sz="3541" spc="-53">
                <a:solidFill>
                  <a:srgbClr val="FFFFFF"/>
                </a:solidFill>
                <a:latin typeface="Prompt"/>
                <a:ea typeface="Prompt"/>
                <a:cs typeface="Prompt"/>
                <a:sym typeface="Prompt"/>
              </a:rPr>
              <a:t> f(x) = a₀ + a₁ x + a₂x² (k=2) </a:t>
            </a:r>
          </a:p>
          <a:p>
            <a:pPr algn="l">
              <a:lnSpc>
                <a:spcPts val="4072"/>
              </a:lnSpc>
              <a:spcBef>
                <a:spcPct val="0"/>
              </a:spcBef>
            </a:pPr>
            <a:r>
              <a:rPr lang="en-US" sz="3541" spc="-53">
                <a:solidFill>
                  <a:srgbClr val="FFFFFF"/>
                </a:solidFill>
                <a:latin typeface="Prompt"/>
                <a:ea typeface="Prompt"/>
                <a:cs typeface="Prompt"/>
                <a:sym typeface="Prompt"/>
              </a:rPr>
              <a:t>Set a₀ = S</a:t>
            </a:r>
          </a:p>
          <a:p>
            <a:pPr algn="l">
              <a:lnSpc>
                <a:spcPts val="4072"/>
              </a:lnSpc>
              <a:spcBef>
                <a:spcPct val="0"/>
              </a:spcBef>
            </a:pPr>
            <a:r>
              <a:rPr lang="en-US" sz="3541" spc="-53">
                <a:solidFill>
                  <a:srgbClr val="FFFFFF"/>
                </a:solidFill>
                <a:latin typeface="Prompt"/>
                <a:ea typeface="Prompt"/>
                <a:cs typeface="Prompt"/>
                <a:sym typeface="Prompt"/>
              </a:rPr>
              <a:t> Take a1=45 and a2=12 </a:t>
            </a:r>
          </a:p>
          <a:p>
            <a:pPr algn="l">
              <a:lnSpc>
                <a:spcPts val="4072"/>
              </a:lnSpc>
              <a:spcBef>
                <a:spcPct val="0"/>
              </a:spcBef>
            </a:pPr>
            <a:r>
              <a:rPr lang="en-US" sz="3541" spc="-53">
                <a:solidFill>
                  <a:srgbClr val="FFFFFF"/>
                </a:solidFill>
                <a:latin typeface="Prompt"/>
                <a:ea typeface="Prompt"/>
                <a:cs typeface="Prompt"/>
                <a:sym typeface="Prompt"/>
              </a:rPr>
              <a:t>So equation is: f(x) = 1234+ 45x + 12x² </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253439"/>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145188" cy="10229350"/>
          </a:xfrm>
          <a:custGeom>
            <a:avLst/>
            <a:gdLst/>
            <a:ahLst/>
            <a:cxnLst/>
            <a:rect r="r" b="b" t="t" l="l"/>
            <a:pathLst>
              <a:path h="10229350" w="18145188">
                <a:moveTo>
                  <a:pt x="0" y="0"/>
                </a:moveTo>
                <a:lnTo>
                  <a:pt x="18145188" y="0"/>
                </a:lnTo>
                <a:lnTo>
                  <a:pt x="18145188" y="10229350"/>
                </a:lnTo>
                <a:lnTo>
                  <a:pt x="0" y="10229350"/>
                </a:lnTo>
                <a:lnTo>
                  <a:pt x="0" y="0"/>
                </a:lnTo>
                <a:close/>
              </a:path>
            </a:pathLst>
          </a:custGeom>
          <a:blipFill>
            <a:blip r:embed="rId2"/>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253439"/>
        </a:solidFill>
      </p:bgPr>
    </p:bg>
    <p:spTree>
      <p:nvGrpSpPr>
        <p:cNvPr id="1" name=""/>
        <p:cNvGrpSpPr/>
        <p:nvPr/>
      </p:nvGrpSpPr>
      <p:grpSpPr>
        <a:xfrm>
          <a:off x="0" y="0"/>
          <a:ext cx="0" cy="0"/>
          <a:chOff x="0" y="0"/>
          <a:chExt cx="0" cy="0"/>
        </a:xfrm>
      </p:grpSpPr>
      <p:sp>
        <p:nvSpPr>
          <p:cNvPr name="Freeform 2" id="2"/>
          <p:cNvSpPr/>
          <p:nvPr/>
        </p:nvSpPr>
        <p:spPr>
          <a:xfrm flipH="false" flipV="false" rot="0">
            <a:off x="1217799" y="1867804"/>
            <a:ext cx="8344725" cy="3074372"/>
          </a:xfrm>
          <a:custGeom>
            <a:avLst/>
            <a:gdLst/>
            <a:ahLst/>
            <a:cxnLst/>
            <a:rect r="r" b="b" t="t" l="l"/>
            <a:pathLst>
              <a:path h="3074372" w="8344725">
                <a:moveTo>
                  <a:pt x="0" y="0"/>
                </a:moveTo>
                <a:lnTo>
                  <a:pt x="8344725" y="0"/>
                </a:lnTo>
                <a:lnTo>
                  <a:pt x="8344725" y="3074372"/>
                </a:lnTo>
                <a:lnTo>
                  <a:pt x="0" y="3074372"/>
                </a:lnTo>
                <a:lnTo>
                  <a:pt x="0" y="0"/>
                </a:lnTo>
                <a:close/>
              </a:path>
            </a:pathLst>
          </a:custGeom>
          <a:blipFill>
            <a:blip r:embed="rId2"/>
            <a:stretch>
              <a:fillRect l="0" t="0" r="0" b="0"/>
            </a:stretch>
          </a:blipFill>
        </p:spPr>
      </p:sp>
      <p:sp>
        <p:nvSpPr>
          <p:cNvPr name="Freeform 3" id="3"/>
          <p:cNvSpPr/>
          <p:nvPr/>
        </p:nvSpPr>
        <p:spPr>
          <a:xfrm flipH="false" flipV="false" rot="0">
            <a:off x="1328041" y="5874451"/>
            <a:ext cx="8124242" cy="3736531"/>
          </a:xfrm>
          <a:custGeom>
            <a:avLst/>
            <a:gdLst/>
            <a:ahLst/>
            <a:cxnLst/>
            <a:rect r="r" b="b" t="t" l="l"/>
            <a:pathLst>
              <a:path h="3736531" w="8124242">
                <a:moveTo>
                  <a:pt x="0" y="0"/>
                </a:moveTo>
                <a:lnTo>
                  <a:pt x="8124242" y="0"/>
                </a:lnTo>
                <a:lnTo>
                  <a:pt x="8124242" y="3736532"/>
                </a:lnTo>
                <a:lnTo>
                  <a:pt x="0" y="3736532"/>
                </a:lnTo>
                <a:lnTo>
                  <a:pt x="0" y="0"/>
                </a:lnTo>
                <a:close/>
              </a:path>
            </a:pathLst>
          </a:custGeom>
          <a:blipFill>
            <a:blip r:embed="rId3"/>
            <a:stretch>
              <a:fillRect l="0" t="0" r="0" b="0"/>
            </a:stretch>
          </a:blipFill>
        </p:spPr>
      </p:sp>
      <p:sp>
        <p:nvSpPr>
          <p:cNvPr name="Freeform 4" id="4"/>
          <p:cNvSpPr/>
          <p:nvPr/>
        </p:nvSpPr>
        <p:spPr>
          <a:xfrm flipH="false" flipV="false" rot="0">
            <a:off x="10148218" y="4705826"/>
            <a:ext cx="7853540" cy="3036890"/>
          </a:xfrm>
          <a:custGeom>
            <a:avLst/>
            <a:gdLst/>
            <a:ahLst/>
            <a:cxnLst/>
            <a:rect r="r" b="b" t="t" l="l"/>
            <a:pathLst>
              <a:path h="3036890" w="7853540">
                <a:moveTo>
                  <a:pt x="0" y="0"/>
                </a:moveTo>
                <a:lnTo>
                  <a:pt x="7853539" y="0"/>
                </a:lnTo>
                <a:lnTo>
                  <a:pt x="7853539" y="3036891"/>
                </a:lnTo>
                <a:lnTo>
                  <a:pt x="0" y="3036891"/>
                </a:lnTo>
                <a:lnTo>
                  <a:pt x="0" y="0"/>
                </a:lnTo>
                <a:close/>
              </a:path>
            </a:pathLst>
          </a:custGeom>
          <a:blipFill>
            <a:blip r:embed="rId4"/>
            <a:stretch>
              <a:fillRect l="0" t="0" r="0" b="0"/>
            </a:stretch>
          </a:blipFill>
        </p:spPr>
      </p:sp>
      <p:sp>
        <p:nvSpPr>
          <p:cNvPr name="TextBox 5" id="5"/>
          <p:cNvSpPr txBox="true"/>
          <p:nvPr/>
        </p:nvSpPr>
        <p:spPr>
          <a:xfrm rot="0">
            <a:off x="1111476" y="1038225"/>
            <a:ext cx="4816435" cy="788670"/>
          </a:xfrm>
          <a:prstGeom prst="rect">
            <a:avLst/>
          </a:prstGeom>
        </p:spPr>
        <p:txBody>
          <a:bodyPr anchor="t" rtlCol="false" tIns="0" lIns="0" bIns="0" rIns="0">
            <a:spAutoFit/>
          </a:bodyPr>
          <a:lstStyle/>
          <a:p>
            <a:pPr algn="ctr">
              <a:lnSpc>
                <a:spcPts val="3104"/>
              </a:lnSpc>
              <a:spcBef>
                <a:spcPct val="0"/>
              </a:spcBef>
            </a:pPr>
            <a:r>
              <a:rPr lang="en-US" sz="2700" spc="-40">
                <a:solidFill>
                  <a:srgbClr val="FFFFFF"/>
                </a:solidFill>
                <a:latin typeface="Prompt"/>
                <a:ea typeface="Prompt"/>
                <a:cs typeface="Prompt"/>
                <a:sym typeface="Prompt"/>
              </a:rPr>
              <a:t>Calculation for lambda values:</a:t>
            </a:r>
          </a:p>
          <a:p>
            <a:pPr algn="l">
              <a:lnSpc>
                <a:spcPts val="3104"/>
              </a:lnSpc>
              <a:spcBef>
                <a:spcPct val="0"/>
              </a:spcBef>
            </a:pPr>
            <a:r>
              <a:rPr lang="en-US" sz="2700" spc="-40">
                <a:solidFill>
                  <a:srgbClr val="FFFFFF"/>
                </a:solidFill>
                <a:latin typeface="Prompt"/>
                <a:ea typeface="Prompt"/>
                <a:cs typeface="Prompt"/>
                <a:sym typeface="Prompt"/>
              </a:rPr>
              <a:t>(x1=1)</a:t>
            </a:r>
          </a:p>
        </p:txBody>
      </p:sp>
      <p:sp>
        <p:nvSpPr>
          <p:cNvPr name="TextBox 6" id="6"/>
          <p:cNvSpPr txBox="true"/>
          <p:nvPr/>
        </p:nvSpPr>
        <p:spPr>
          <a:xfrm rot="0">
            <a:off x="1217799" y="5153025"/>
            <a:ext cx="985242" cy="398145"/>
          </a:xfrm>
          <a:prstGeom prst="rect">
            <a:avLst/>
          </a:prstGeom>
        </p:spPr>
        <p:txBody>
          <a:bodyPr anchor="t" rtlCol="false" tIns="0" lIns="0" bIns="0" rIns="0">
            <a:spAutoFit/>
          </a:bodyPr>
          <a:lstStyle/>
          <a:p>
            <a:pPr algn="ctr">
              <a:lnSpc>
                <a:spcPts val="3104"/>
              </a:lnSpc>
              <a:spcBef>
                <a:spcPct val="0"/>
              </a:spcBef>
            </a:pPr>
            <a:r>
              <a:rPr lang="en-US" sz="2700" spc="-40">
                <a:solidFill>
                  <a:srgbClr val="FFFFFF"/>
                </a:solidFill>
                <a:latin typeface="Prompt"/>
                <a:ea typeface="Prompt"/>
                <a:cs typeface="Prompt"/>
                <a:sym typeface="Prompt"/>
              </a:rPr>
              <a:t>(x2=2)</a:t>
            </a:r>
          </a:p>
        </p:txBody>
      </p:sp>
      <p:sp>
        <p:nvSpPr>
          <p:cNvPr name="TextBox 7" id="7"/>
          <p:cNvSpPr txBox="true"/>
          <p:nvPr/>
        </p:nvSpPr>
        <p:spPr>
          <a:xfrm rot="0">
            <a:off x="10320916" y="4048575"/>
            <a:ext cx="980361" cy="398145"/>
          </a:xfrm>
          <a:prstGeom prst="rect">
            <a:avLst/>
          </a:prstGeom>
        </p:spPr>
        <p:txBody>
          <a:bodyPr anchor="t" rtlCol="false" tIns="0" lIns="0" bIns="0" rIns="0">
            <a:spAutoFit/>
          </a:bodyPr>
          <a:lstStyle/>
          <a:p>
            <a:pPr algn="ctr">
              <a:lnSpc>
                <a:spcPts val="3104"/>
              </a:lnSpc>
              <a:spcBef>
                <a:spcPct val="0"/>
              </a:spcBef>
            </a:pPr>
            <a:r>
              <a:rPr lang="en-US" sz="2700" spc="-40">
                <a:solidFill>
                  <a:srgbClr val="FFFFFF"/>
                </a:solidFill>
                <a:latin typeface="Prompt"/>
                <a:ea typeface="Prompt"/>
                <a:cs typeface="Prompt"/>
                <a:sym typeface="Prompt"/>
              </a:rPr>
              <a:t>(x3=3)</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253439"/>
        </a:solidFill>
      </p:bgPr>
    </p:bg>
    <p:spTree>
      <p:nvGrpSpPr>
        <p:cNvPr id="1" name=""/>
        <p:cNvGrpSpPr/>
        <p:nvPr/>
      </p:nvGrpSpPr>
      <p:grpSpPr>
        <a:xfrm>
          <a:off x="0" y="0"/>
          <a:ext cx="0" cy="0"/>
          <a:chOff x="0" y="0"/>
          <a:chExt cx="0" cy="0"/>
        </a:xfrm>
      </p:grpSpPr>
      <p:sp>
        <p:nvSpPr>
          <p:cNvPr name="TextBox 2" id="2"/>
          <p:cNvSpPr txBox="true"/>
          <p:nvPr/>
        </p:nvSpPr>
        <p:spPr>
          <a:xfrm rot="0">
            <a:off x="1217286" y="3663814"/>
            <a:ext cx="11730736" cy="4977361"/>
          </a:xfrm>
          <a:prstGeom prst="rect">
            <a:avLst/>
          </a:prstGeom>
        </p:spPr>
        <p:txBody>
          <a:bodyPr anchor="t" rtlCol="false" tIns="0" lIns="0" bIns="0" rIns="0">
            <a:spAutoFit/>
          </a:bodyPr>
          <a:lstStyle/>
          <a:p>
            <a:pPr algn="l">
              <a:lnSpc>
                <a:spcPts val="4411"/>
              </a:lnSpc>
              <a:spcBef>
                <a:spcPct val="0"/>
              </a:spcBef>
            </a:pPr>
            <a:r>
              <a:rPr lang="en-US" sz="3836" spc="-57">
                <a:solidFill>
                  <a:srgbClr val="FFFFFF"/>
                </a:solidFill>
                <a:latin typeface="Prompt"/>
                <a:ea typeface="Prompt"/>
                <a:cs typeface="Prompt"/>
                <a:sym typeface="Prompt"/>
              </a:rPr>
              <a:t>Compute each term:</a:t>
            </a:r>
          </a:p>
          <a:p>
            <a:pPr algn="l" marL="828272" indent="-414136" lvl="1">
              <a:lnSpc>
                <a:spcPts val="4411"/>
              </a:lnSpc>
              <a:buFont typeface="Arial"/>
              <a:buChar char="•"/>
            </a:pPr>
            <a:r>
              <a:rPr lang="en-US" sz="3836" spc="-57">
                <a:solidFill>
                  <a:srgbClr val="FFFFFF"/>
                </a:solidFill>
                <a:latin typeface="Prompt"/>
                <a:ea typeface="Prompt"/>
                <a:cs typeface="Prompt"/>
                <a:sym typeface="Prompt"/>
              </a:rPr>
              <a:t>1291 . 3 = 3873</a:t>
            </a:r>
          </a:p>
          <a:p>
            <a:pPr algn="l" marL="828272" indent="-414136" lvl="1">
              <a:lnSpc>
                <a:spcPts val="4411"/>
              </a:lnSpc>
              <a:buFont typeface="Arial"/>
              <a:buChar char="•"/>
            </a:pPr>
            <a:r>
              <a:rPr lang="en-US" sz="3836" spc="-57">
                <a:solidFill>
                  <a:srgbClr val="FFFFFF"/>
                </a:solidFill>
                <a:latin typeface="Prompt"/>
                <a:ea typeface="Prompt"/>
                <a:cs typeface="Prompt"/>
                <a:sym typeface="Prompt"/>
              </a:rPr>
              <a:t>1372 . 2024 = 2776928</a:t>
            </a:r>
          </a:p>
          <a:p>
            <a:pPr algn="l" marL="828272" indent="-414136" lvl="1">
              <a:lnSpc>
                <a:spcPts val="4411"/>
              </a:lnSpc>
              <a:buFont typeface="Arial"/>
              <a:buChar char="•"/>
            </a:pPr>
            <a:r>
              <a:rPr lang="en-US" sz="3836" spc="-57">
                <a:solidFill>
                  <a:srgbClr val="FFFFFF"/>
                </a:solidFill>
                <a:latin typeface="Prompt"/>
                <a:ea typeface="Prompt"/>
                <a:cs typeface="Prompt"/>
                <a:sym typeface="Prompt"/>
              </a:rPr>
              <a:t>1477 . 1 = 1477</a:t>
            </a:r>
          </a:p>
          <a:p>
            <a:pPr algn="l">
              <a:lnSpc>
                <a:spcPts val="4411"/>
              </a:lnSpc>
              <a:spcBef>
                <a:spcPct val="0"/>
              </a:spcBef>
            </a:pPr>
            <a:r>
              <a:rPr lang="en-US" sz="3836" spc="-57">
                <a:solidFill>
                  <a:srgbClr val="FFFFFF"/>
                </a:solidFill>
                <a:latin typeface="Prompt"/>
                <a:ea typeface="Prompt"/>
                <a:cs typeface="Prompt"/>
                <a:sym typeface="Prompt"/>
              </a:rPr>
              <a:t>Add:</a:t>
            </a:r>
          </a:p>
          <a:p>
            <a:pPr algn="l">
              <a:lnSpc>
                <a:spcPts val="4411"/>
              </a:lnSpc>
              <a:spcBef>
                <a:spcPct val="0"/>
              </a:spcBef>
            </a:pPr>
            <a:r>
              <a:rPr lang="en-US" sz="3836" spc="-57">
                <a:solidFill>
                  <a:srgbClr val="FFFFFF"/>
                </a:solidFill>
                <a:latin typeface="Prompt"/>
                <a:ea typeface="Prompt"/>
                <a:cs typeface="Prompt"/>
                <a:sym typeface="Prompt"/>
              </a:rPr>
              <a:t>           3873 + 2776928 + 1477 = 2782278</a:t>
            </a:r>
          </a:p>
          <a:p>
            <a:pPr algn="l">
              <a:lnSpc>
                <a:spcPts val="4411"/>
              </a:lnSpc>
              <a:spcBef>
                <a:spcPct val="0"/>
              </a:spcBef>
            </a:pPr>
            <a:r>
              <a:rPr lang="en-US" sz="3836" spc="-57">
                <a:solidFill>
                  <a:srgbClr val="FFFFFF"/>
                </a:solidFill>
                <a:latin typeface="Prompt"/>
                <a:ea typeface="Prompt"/>
                <a:cs typeface="Prompt"/>
                <a:sym typeface="Prompt"/>
              </a:rPr>
              <a:t>Now compute:</a:t>
            </a:r>
          </a:p>
          <a:p>
            <a:pPr algn="l">
              <a:lnSpc>
                <a:spcPts val="4411"/>
              </a:lnSpc>
              <a:spcBef>
                <a:spcPct val="0"/>
              </a:spcBef>
            </a:pPr>
            <a:r>
              <a:rPr lang="en-US" sz="3836" spc="-57">
                <a:solidFill>
                  <a:srgbClr val="FFFFFF"/>
                </a:solidFill>
                <a:latin typeface="Prompt"/>
                <a:ea typeface="Prompt"/>
                <a:cs typeface="Prompt"/>
                <a:sym typeface="Prompt"/>
              </a:rPr>
              <a:t>           S = 2782278 mod 2027 = 1234</a:t>
            </a:r>
          </a:p>
          <a:p>
            <a:pPr algn="l" marL="828272" indent="-414136" lvl="1">
              <a:lnSpc>
                <a:spcPts val="4411"/>
              </a:lnSpc>
              <a:buFont typeface="Arial"/>
              <a:buChar char="•"/>
            </a:pPr>
            <a:r>
              <a:rPr lang="en-US" sz="3836" spc="-57">
                <a:solidFill>
                  <a:srgbClr val="FFFFFF"/>
                </a:solidFill>
                <a:latin typeface="Prompt"/>
                <a:ea typeface="Prompt"/>
                <a:cs typeface="Prompt"/>
                <a:sym typeface="Prompt"/>
              </a:rPr>
              <a:t>Secret Recovered: S = 1234</a:t>
            </a:r>
          </a:p>
        </p:txBody>
      </p:sp>
      <p:sp>
        <p:nvSpPr>
          <p:cNvPr name="Freeform 3" id="3"/>
          <p:cNvSpPr/>
          <p:nvPr/>
        </p:nvSpPr>
        <p:spPr>
          <a:xfrm flipH="false" flipV="false" rot="0">
            <a:off x="1566743" y="1179332"/>
            <a:ext cx="5515911" cy="1237078"/>
          </a:xfrm>
          <a:custGeom>
            <a:avLst/>
            <a:gdLst/>
            <a:ahLst/>
            <a:cxnLst/>
            <a:rect r="r" b="b" t="t" l="l"/>
            <a:pathLst>
              <a:path h="1237078" w="5515911">
                <a:moveTo>
                  <a:pt x="0" y="0"/>
                </a:moveTo>
                <a:lnTo>
                  <a:pt x="5515911" y="0"/>
                </a:lnTo>
                <a:lnTo>
                  <a:pt x="5515911" y="1237078"/>
                </a:lnTo>
                <a:lnTo>
                  <a:pt x="0" y="1237078"/>
                </a:lnTo>
                <a:lnTo>
                  <a:pt x="0" y="0"/>
                </a:lnTo>
                <a:close/>
              </a:path>
            </a:pathLst>
          </a:custGeom>
          <a:blipFill>
            <a:blip r:embed="rId2"/>
            <a:stretch>
              <a:fillRect l="0" t="0" r="0" b="0"/>
            </a:stretch>
          </a:blipFill>
        </p:spPr>
      </p:sp>
      <p:sp>
        <p:nvSpPr>
          <p:cNvPr name="TextBox 4" id="4"/>
          <p:cNvSpPr txBox="true"/>
          <p:nvPr/>
        </p:nvSpPr>
        <p:spPr>
          <a:xfrm rot="0">
            <a:off x="1028700" y="630555"/>
            <a:ext cx="1076087" cy="398145"/>
          </a:xfrm>
          <a:prstGeom prst="rect">
            <a:avLst/>
          </a:prstGeom>
        </p:spPr>
        <p:txBody>
          <a:bodyPr anchor="t" rtlCol="false" tIns="0" lIns="0" bIns="0" rIns="0">
            <a:spAutoFit/>
          </a:bodyPr>
          <a:lstStyle/>
          <a:p>
            <a:pPr algn="ctr">
              <a:lnSpc>
                <a:spcPts val="3104"/>
              </a:lnSpc>
              <a:spcBef>
                <a:spcPct val="0"/>
              </a:spcBef>
            </a:pPr>
            <a:r>
              <a:rPr lang="en-US" sz="2700" spc="-40">
                <a:solidFill>
                  <a:srgbClr val="FFFFFF"/>
                </a:solidFill>
                <a:latin typeface="Prompt"/>
                <a:ea typeface="Prompt"/>
                <a:cs typeface="Prompt"/>
                <a:sym typeface="Prompt"/>
              </a:rPr>
              <a:t>At last:</a:t>
            </a:r>
          </a:p>
        </p:txBody>
      </p:sp>
      <p:sp>
        <p:nvSpPr>
          <p:cNvPr name="TextBox 5" id="5"/>
          <p:cNvSpPr txBox="true"/>
          <p:nvPr/>
        </p:nvSpPr>
        <p:spPr>
          <a:xfrm rot="0">
            <a:off x="1453164" y="2875144"/>
            <a:ext cx="7917895" cy="438150"/>
          </a:xfrm>
          <a:prstGeom prst="rect">
            <a:avLst/>
          </a:prstGeom>
        </p:spPr>
        <p:txBody>
          <a:bodyPr anchor="t" rtlCol="false" tIns="0" lIns="0" bIns="0" rIns="0">
            <a:spAutoFit/>
          </a:bodyPr>
          <a:lstStyle/>
          <a:p>
            <a:pPr algn="ctr">
              <a:lnSpc>
                <a:spcPts val="3449"/>
              </a:lnSpc>
              <a:spcBef>
                <a:spcPct val="0"/>
              </a:spcBef>
            </a:pPr>
            <a:r>
              <a:rPr lang="en-US" sz="2999" spc="-44">
                <a:solidFill>
                  <a:srgbClr val="FFFFFF"/>
                </a:solidFill>
                <a:latin typeface="Prompt"/>
                <a:ea typeface="Prompt"/>
                <a:cs typeface="Prompt"/>
                <a:sym typeface="Prompt"/>
              </a:rPr>
              <a:t>S = (1291 . 3 + 1372 .2024 + 1477 .1) mod 2027</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253439"/>
        </a:solidFill>
      </p:bgPr>
    </p:bg>
    <p:spTree>
      <p:nvGrpSpPr>
        <p:cNvPr id="1" name=""/>
        <p:cNvGrpSpPr/>
        <p:nvPr/>
      </p:nvGrpSpPr>
      <p:grpSpPr>
        <a:xfrm>
          <a:off x="0" y="0"/>
          <a:ext cx="0" cy="0"/>
          <a:chOff x="0" y="0"/>
          <a:chExt cx="0" cy="0"/>
        </a:xfrm>
      </p:grpSpPr>
      <p:sp>
        <p:nvSpPr>
          <p:cNvPr name="AutoShape 2" id="2"/>
          <p:cNvSpPr/>
          <p:nvPr/>
        </p:nvSpPr>
        <p:spPr>
          <a:xfrm rot="0">
            <a:off x="1320464" y="1213786"/>
            <a:ext cx="15647072" cy="7641502"/>
          </a:xfrm>
          <a:prstGeom prst="rect">
            <a:avLst/>
          </a:prstGeom>
          <a:solidFill>
            <a:srgbClr val="FFFFFF"/>
          </a:solidFill>
        </p:spPr>
      </p:sp>
      <p:grpSp>
        <p:nvGrpSpPr>
          <p:cNvPr name="Group 3" id="3"/>
          <p:cNvGrpSpPr/>
          <p:nvPr/>
        </p:nvGrpSpPr>
        <p:grpSpPr>
          <a:xfrm rot="-5400000">
            <a:off x="10532590" y="2233300"/>
            <a:ext cx="5602474" cy="5602474"/>
            <a:chOff x="0" y="0"/>
            <a:chExt cx="6350000" cy="6350000"/>
          </a:xfrm>
        </p:grpSpPr>
        <p:sp>
          <p:nvSpPr>
            <p:cNvPr name="Freeform 4" id="4"/>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253439"/>
            </a:solidFill>
          </p:spPr>
        </p:sp>
      </p:grpSp>
      <p:sp>
        <p:nvSpPr>
          <p:cNvPr name="AutoShape 5" id="5"/>
          <p:cNvSpPr/>
          <p:nvPr/>
        </p:nvSpPr>
        <p:spPr>
          <a:xfrm rot="5400000">
            <a:off x="5551316" y="4640052"/>
            <a:ext cx="1502102" cy="9963806"/>
          </a:xfrm>
          <a:prstGeom prst="rect">
            <a:avLst/>
          </a:prstGeom>
          <a:solidFill>
            <a:srgbClr val="0B1523"/>
          </a:solidFill>
        </p:spPr>
      </p:sp>
      <p:grpSp>
        <p:nvGrpSpPr>
          <p:cNvPr name="Group 6" id="6"/>
          <p:cNvGrpSpPr/>
          <p:nvPr/>
        </p:nvGrpSpPr>
        <p:grpSpPr>
          <a:xfrm rot="0">
            <a:off x="0" y="6605314"/>
            <a:ext cx="3687586" cy="3681686"/>
            <a:chOff x="0" y="0"/>
            <a:chExt cx="6350000" cy="6339840"/>
          </a:xfrm>
        </p:grpSpPr>
        <p:sp>
          <p:nvSpPr>
            <p:cNvPr name="Freeform 7" id="7"/>
            <p:cNvSpPr/>
            <p:nvPr/>
          </p:nvSpPr>
          <p:spPr>
            <a:xfrm flipH="false" flipV="false" rot="0">
              <a:off x="0" y="0"/>
              <a:ext cx="6350000" cy="6339840"/>
            </a:xfrm>
            <a:custGeom>
              <a:avLst/>
              <a:gdLst/>
              <a:ahLst/>
              <a:cxnLst/>
              <a:rect r="r" b="b" t="t" l="l"/>
              <a:pathLst>
                <a:path h="6339840" w="6350000">
                  <a:moveTo>
                    <a:pt x="6350000" y="6339840"/>
                  </a:moveTo>
                  <a:lnTo>
                    <a:pt x="0" y="6339840"/>
                  </a:lnTo>
                  <a:lnTo>
                    <a:pt x="0" y="0"/>
                  </a:lnTo>
                  <a:close/>
                </a:path>
              </a:pathLst>
            </a:custGeom>
            <a:solidFill>
              <a:srgbClr val="529DEE"/>
            </a:solidFill>
          </p:spPr>
        </p:sp>
      </p:grpSp>
      <p:grpSp>
        <p:nvGrpSpPr>
          <p:cNvPr name="Group 8" id="8"/>
          <p:cNvGrpSpPr/>
          <p:nvPr/>
        </p:nvGrpSpPr>
        <p:grpSpPr>
          <a:xfrm rot="0">
            <a:off x="10762313" y="2463033"/>
            <a:ext cx="5143029" cy="5143008"/>
            <a:chOff x="0" y="0"/>
            <a:chExt cx="6350000" cy="6349975"/>
          </a:xfrm>
        </p:grpSpPr>
        <p:sp>
          <p:nvSpPr>
            <p:cNvPr name="Freeform 9" id="9"/>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2"/>
              <a:stretch>
                <a:fillRect l="-30541" t="0" r="-30541" b="0"/>
              </a:stretch>
            </a:blipFill>
          </p:spPr>
        </p:sp>
      </p:grpSp>
      <p:grpSp>
        <p:nvGrpSpPr>
          <p:cNvPr name="Group 10" id="10"/>
          <p:cNvGrpSpPr/>
          <p:nvPr/>
        </p:nvGrpSpPr>
        <p:grpSpPr>
          <a:xfrm rot="0">
            <a:off x="-412067" y="4209538"/>
            <a:ext cx="10944657" cy="1867924"/>
            <a:chOff x="0" y="0"/>
            <a:chExt cx="14592876" cy="2490565"/>
          </a:xfrm>
        </p:grpSpPr>
        <p:sp>
          <p:nvSpPr>
            <p:cNvPr name="TextBox 11" id="11"/>
            <p:cNvSpPr txBox="true"/>
            <p:nvPr/>
          </p:nvSpPr>
          <p:spPr>
            <a:xfrm rot="0">
              <a:off x="4916758" y="9525"/>
              <a:ext cx="9596552" cy="428209"/>
            </a:xfrm>
            <a:prstGeom prst="rect">
              <a:avLst/>
            </a:prstGeom>
          </p:spPr>
          <p:txBody>
            <a:bodyPr anchor="t" rtlCol="false" tIns="0" lIns="0" bIns="0" rIns="0">
              <a:spAutoFit/>
            </a:bodyPr>
            <a:lstStyle/>
            <a:p>
              <a:pPr algn="l" marL="0" indent="0" lvl="0">
                <a:lnSpc>
                  <a:spcPts val="2530"/>
                </a:lnSpc>
              </a:pPr>
            </a:p>
          </p:txBody>
        </p:sp>
        <p:sp>
          <p:nvSpPr>
            <p:cNvPr name="TextBox 12" id="12"/>
            <p:cNvSpPr txBox="true"/>
            <p:nvPr/>
          </p:nvSpPr>
          <p:spPr>
            <a:xfrm rot="0">
              <a:off x="4916758" y="1448530"/>
              <a:ext cx="8805772" cy="1042035"/>
            </a:xfrm>
            <a:prstGeom prst="rect">
              <a:avLst/>
            </a:prstGeom>
          </p:spPr>
          <p:txBody>
            <a:bodyPr anchor="t" rtlCol="false" tIns="0" lIns="0" bIns="0" rIns="0">
              <a:spAutoFit/>
            </a:bodyPr>
            <a:lstStyle/>
            <a:p>
              <a:pPr algn="l" marL="0" indent="0" lvl="0">
                <a:lnSpc>
                  <a:spcPts val="3105"/>
                </a:lnSpc>
              </a:pPr>
              <a:r>
                <a:rPr lang="en-US" sz="2700" spc="-40">
                  <a:solidFill>
                    <a:srgbClr val="0B1523"/>
                  </a:solidFill>
                  <a:latin typeface="Prompt"/>
                  <a:ea typeface="Prompt"/>
                  <a:cs typeface="Prompt"/>
                  <a:sym typeface="Prompt"/>
                </a:rPr>
                <a:t>controlled activation and triggering mechanism</a:t>
              </a:r>
            </a:p>
          </p:txBody>
        </p:sp>
        <p:sp>
          <p:nvSpPr>
            <p:cNvPr name="AutoShape 13" id="13"/>
            <p:cNvSpPr/>
            <p:nvPr/>
          </p:nvSpPr>
          <p:spPr>
            <a:xfrm rot="0">
              <a:off x="0" y="813737"/>
              <a:ext cx="14592876" cy="137880"/>
            </a:xfrm>
            <a:prstGeom prst="rect">
              <a:avLst/>
            </a:prstGeom>
            <a:solidFill>
              <a:srgbClr val="2E83D1"/>
            </a:solidFill>
          </p:spPr>
        </p:sp>
      </p:grpSp>
    </p:spTree>
  </p:cSld>
  <p:clrMapOvr>
    <a:masterClrMapping/>
  </p:clrMapOvr>
</p:sld>
</file>

<file path=ppt/slides/slide16.xml><?xml version="1.0" encoding="utf-8"?>
<p:sld xmlns:p="http://schemas.openxmlformats.org/presentationml/2006/main" xmlns:a="http://schemas.openxmlformats.org/drawingml/2006/main">
  <p:cSld>
    <p:bg>
      <p:bgPr>
        <a:solidFill>
          <a:srgbClr val="253439"/>
        </a:solidFill>
      </p:bgPr>
    </p:bg>
    <p:spTree>
      <p:nvGrpSpPr>
        <p:cNvPr id="1" name=""/>
        <p:cNvGrpSpPr/>
        <p:nvPr/>
      </p:nvGrpSpPr>
      <p:grpSpPr>
        <a:xfrm>
          <a:off x="0" y="0"/>
          <a:ext cx="0" cy="0"/>
          <a:chOff x="0" y="0"/>
          <a:chExt cx="0" cy="0"/>
        </a:xfrm>
      </p:grpSpPr>
      <p:sp>
        <p:nvSpPr>
          <p:cNvPr name="TextBox 2" id="2"/>
          <p:cNvSpPr txBox="true"/>
          <p:nvPr/>
        </p:nvSpPr>
        <p:spPr>
          <a:xfrm rot="0">
            <a:off x="382657" y="1179584"/>
            <a:ext cx="16095584" cy="3190892"/>
          </a:xfrm>
          <a:prstGeom prst="rect">
            <a:avLst/>
          </a:prstGeom>
        </p:spPr>
        <p:txBody>
          <a:bodyPr anchor="t" rtlCol="false" tIns="0" lIns="0" bIns="0" rIns="0">
            <a:spAutoFit/>
          </a:bodyPr>
          <a:lstStyle/>
          <a:p>
            <a:pPr algn="l">
              <a:lnSpc>
                <a:spcPts val="4502"/>
              </a:lnSpc>
            </a:pPr>
            <a:r>
              <a:rPr lang="en-US" sz="2762" spc="-41">
                <a:solidFill>
                  <a:srgbClr val="2E83D1"/>
                </a:solidFill>
                <a:latin typeface="Prompt"/>
                <a:ea typeface="Prompt"/>
                <a:cs typeface="Prompt"/>
                <a:sym typeface="Prompt"/>
              </a:rPr>
              <a:t>Controlled Activation</a:t>
            </a:r>
          </a:p>
          <a:p>
            <a:pPr algn="l">
              <a:lnSpc>
                <a:spcPts val="3176"/>
              </a:lnSpc>
              <a:spcBef>
                <a:spcPct val="0"/>
              </a:spcBef>
            </a:pPr>
            <a:r>
              <a:rPr lang="en-US" sz="2762" spc="-41">
                <a:solidFill>
                  <a:srgbClr val="FFFFFF"/>
                </a:solidFill>
                <a:latin typeface="Prompt"/>
                <a:ea typeface="Prompt"/>
                <a:cs typeface="Prompt"/>
                <a:sym typeface="Prompt"/>
              </a:rPr>
              <a:t>Controlled activation means carefully managing when and how the switch is armed or kept alive.</a:t>
            </a:r>
          </a:p>
          <a:p>
            <a:pPr algn="l">
              <a:lnSpc>
                <a:spcPts val="3176"/>
              </a:lnSpc>
              <a:spcBef>
                <a:spcPct val="0"/>
              </a:spcBef>
            </a:pPr>
            <a:r>
              <a:rPr lang="en-US" sz="2762" spc="-41">
                <a:solidFill>
                  <a:srgbClr val="FFFFFF"/>
                </a:solidFill>
                <a:latin typeface="Prompt"/>
                <a:ea typeface="Prompt"/>
                <a:cs typeface="Prompt"/>
                <a:sym typeface="Prompt"/>
              </a:rPr>
              <a:t> Key elements include:</a:t>
            </a:r>
          </a:p>
          <a:p>
            <a:pPr algn="l" marL="596410" indent="-298205" lvl="1">
              <a:lnSpc>
                <a:spcPts val="3176"/>
              </a:lnSpc>
              <a:buFont typeface="Arial"/>
              <a:buChar char="•"/>
            </a:pPr>
            <a:r>
              <a:rPr lang="en-US" sz="2762" spc="-41">
                <a:solidFill>
                  <a:srgbClr val="FFFFFF"/>
                </a:solidFill>
                <a:latin typeface="Prompt"/>
                <a:ea typeface="Prompt"/>
                <a:cs typeface="Prompt"/>
                <a:sym typeface="Prompt"/>
              </a:rPr>
              <a:t>Authentication Requirement – Only authorized users can arm or reset the switch.</a:t>
            </a:r>
          </a:p>
          <a:p>
            <a:pPr algn="l" marL="596410" indent="-298205" lvl="1">
              <a:lnSpc>
                <a:spcPts val="4530"/>
              </a:lnSpc>
              <a:buFont typeface="Arial"/>
              <a:buChar char="•"/>
            </a:pPr>
            <a:r>
              <a:rPr lang="en-US" sz="2762" spc="-41">
                <a:solidFill>
                  <a:srgbClr val="FFFFFF"/>
                </a:solidFill>
                <a:latin typeface="Prompt"/>
                <a:ea typeface="Prompt"/>
                <a:cs typeface="Prompt"/>
                <a:sym typeface="Prompt"/>
              </a:rPr>
              <a:t>Arming Protocols – The switch is only activated after following a predefined procedure.</a:t>
            </a:r>
          </a:p>
          <a:p>
            <a:pPr algn="l" marL="596410" indent="-298205" lvl="1">
              <a:lnSpc>
                <a:spcPts val="3176"/>
              </a:lnSpc>
              <a:buFont typeface="Arial"/>
              <a:buChar char="•"/>
            </a:pPr>
            <a:r>
              <a:rPr lang="en-US" sz="2762" spc="-41">
                <a:solidFill>
                  <a:srgbClr val="FFFFFF"/>
                </a:solidFill>
                <a:latin typeface="Prompt"/>
                <a:ea typeface="Prompt"/>
                <a:cs typeface="Prompt"/>
                <a:sym typeface="Prompt"/>
              </a:rPr>
              <a:t>Time-Based Control – Switch remains active for a set period before requiring reactivation.</a:t>
            </a:r>
          </a:p>
          <a:p>
            <a:pPr algn="l" marL="596410" indent="-298205" lvl="1">
              <a:lnSpc>
                <a:spcPts val="3176"/>
              </a:lnSpc>
              <a:buFont typeface="Arial"/>
              <a:buChar char="•"/>
            </a:pPr>
            <a:r>
              <a:rPr lang="en-US" sz="2762" spc="-41">
                <a:solidFill>
                  <a:srgbClr val="FFFFFF"/>
                </a:solidFill>
                <a:latin typeface="Prompt"/>
                <a:ea typeface="Prompt"/>
                <a:cs typeface="Prompt"/>
                <a:sym typeface="Prompt"/>
              </a:rPr>
              <a:t>Threshold Schemes – Multiple trusted users must confirm activation</a:t>
            </a:r>
          </a:p>
        </p:txBody>
      </p:sp>
      <p:sp>
        <p:nvSpPr>
          <p:cNvPr name="TextBox 3" id="3"/>
          <p:cNvSpPr txBox="true"/>
          <p:nvPr/>
        </p:nvSpPr>
        <p:spPr>
          <a:xfrm rot="0">
            <a:off x="251546" y="4870025"/>
            <a:ext cx="15621595" cy="986409"/>
          </a:xfrm>
          <a:prstGeom prst="rect">
            <a:avLst/>
          </a:prstGeom>
        </p:spPr>
        <p:txBody>
          <a:bodyPr anchor="t" rtlCol="false" tIns="0" lIns="0" bIns="0" rIns="0">
            <a:spAutoFit/>
          </a:bodyPr>
          <a:lstStyle/>
          <a:p>
            <a:pPr algn="l">
              <a:lnSpc>
                <a:spcPts val="4022"/>
              </a:lnSpc>
            </a:pPr>
            <a:r>
              <a:rPr lang="en-US" sz="2700" spc="-40">
                <a:solidFill>
                  <a:srgbClr val="2E83D1"/>
                </a:solidFill>
                <a:latin typeface="Prompt"/>
                <a:ea typeface="Prompt"/>
                <a:cs typeface="Prompt"/>
                <a:sym typeface="Prompt"/>
              </a:rPr>
              <a:t> Triggering Mechanism</a:t>
            </a:r>
          </a:p>
          <a:p>
            <a:pPr algn="l">
              <a:lnSpc>
                <a:spcPts val="4022"/>
              </a:lnSpc>
            </a:pPr>
            <a:r>
              <a:rPr lang="en-US" sz="2700" spc="-40">
                <a:solidFill>
                  <a:srgbClr val="FFFFFF"/>
                </a:solidFill>
                <a:latin typeface="Prompt"/>
                <a:ea typeface="Prompt"/>
                <a:cs typeface="Prompt"/>
                <a:sym typeface="Prompt"/>
              </a:rPr>
              <a:t>The triggering mechanism determines what exactly causes the switch to activate its final action.</a:t>
            </a:r>
          </a:p>
        </p:txBody>
      </p:sp>
      <p:sp>
        <p:nvSpPr>
          <p:cNvPr name="TextBox 4" id="4"/>
          <p:cNvSpPr txBox="true"/>
          <p:nvPr/>
        </p:nvSpPr>
        <p:spPr>
          <a:xfrm rot="0">
            <a:off x="251546" y="6161234"/>
            <a:ext cx="18288000" cy="2450592"/>
          </a:xfrm>
          <a:prstGeom prst="rect">
            <a:avLst/>
          </a:prstGeom>
        </p:spPr>
        <p:txBody>
          <a:bodyPr anchor="t" rtlCol="false" tIns="0" lIns="0" bIns="0" rIns="0">
            <a:spAutoFit/>
          </a:bodyPr>
          <a:lstStyle/>
          <a:p>
            <a:pPr algn="l">
              <a:lnSpc>
                <a:spcPts val="3969"/>
              </a:lnSpc>
            </a:pPr>
            <a:r>
              <a:rPr lang="en-US" sz="2700" spc="-40">
                <a:solidFill>
                  <a:srgbClr val="FFFFFF"/>
                </a:solidFill>
                <a:latin typeface="Prompt"/>
                <a:ea typeface="Prompt"/>
                <a:cs typeface="Prompt"/>
                <a:sym typeface="Prompt"/>
              </a:rPr>
              <a:t>Possible triggers:</a:t>
            </a:r>
          </a:p>
          <a:p>
            <a:pPr algn="l" marL="582930" indent="-291465" lvl="1">
              <a:lnSpc>
                <a:spcPts val="3969"/>
              </a:lnSpc>
              <a:buFont typeface="Arial"/>
              <a:buChar char="•"/>
            </a:pPr>
            <a:r>
              <a:rPr lang="en-US" sz="2700" spc="-40">
                <a:solidFill>
                  <a:srgbClr val="FFFFFF"/>
                </a:solidFill>
                <a:latin typeface="Prompt"/>
                <a:ea typeface="Prompt"/>
                <a:cs typeface="Prompt"/>
                <a:sym typeface="Prompt"/>
              </a:rPr>
              <a:t>Inactivity Timeout – If the user fails to send periodic "alive" signals (heartbeat) before the deadline.</a:t>
            </a:r>
          </a:p>
          <a:p>
            <a:pPr algn="l" marL="582930" indent="-291465" lvl="1">
              <a:lnSpc>
                <a:spcPts val="3969"/>
              </a:lnSpc>
              <a:buFont typeface="Arial"/>
              <a:buChar char="•"/>
            </a:pPr>
            <a:r>
              <a:rPr lang="en-US" sz="2700" spc="-40">
                <a:solidFill>
                  <a:srgbClr val="FFFFFF"/>
                </a:solidFill>
                <a:latin typeface="Prompt"/>
                <a:ea typeface="Prompt"/>
                <a:cs typeface="Prompt"/>
                <a:sym typeface="Prompt"/>
              </a:rPr>
              <a:t>Manual Trigger – Activated deliberately by authorized parties in emergencies.</a:t>
            </a:r>
          </a:p>
          <a:p>
            <a:pPr algn="l" marL="582930" indent="-291465" lvl="1">
              <a:lnSpc>
                <a:spcPts val="3969"/>
              </a:lnSpc>
              <a:buFont typeface="Arial"/>
              <a:buChar char="•"/>
            </a:pPr>
            <a:r>
              <a:rPr lang="en-US" sz="2700" spc="-40">
                <a:solidFill>
                  <a:srgbClr val="FFFFFF"/>
                </a:solidFill>
                <a:latin typeface="Prompt"/>
                <a:ea typeface="Prompt"/>
                <a:cs typeface="Prompt"/>
                <a:sym typeface="Prompt"/>
              </a:rPr>
              <a:t>External Data Signals – Based on inputs like loss of network connection, biometric inactivity, or security breach detection.</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25343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1444978" cy="812800"/>
          </a:xfrm>
        </p:grpSpPr>
        <p:sp>
          <p:nvSpPr>
            <p:cNvPr name="Freeform 3" id="3"/>
            <p:cNvSpPr/>
            <p:nvPr/>
          </p:nvSpPr>
          <p:spPr>
            <a:xfrm flipH="false" flipV="false" rot="0">
              <a:off x="0" y="0"/>
              <a:ext cx="1444978" cy="812800"/>
            </a:xfrm>
            <a:custGeom>
              <a:avLst/>
              <a:gdLst/>
              <a:ahLst/>
              <a:cxnLst/>
              <a:rect r="r" b="b" t="t" l="l"/>
              <a:pathLst>
                <a:path h="812800" w="1444978">
                  <a:moveTo>
                    <a:pt x="0" y="0"/>
                  </a:moveTo>
                  <a:lnTo>
                    <a:pt x="1444978" y="0"/>
                  </a:lnTo>
                  <a:lnTo>
                    <a:pt x="1444978" y="812800"/>
                  </a:lnTo>
                  <a:lnTo>
                    <a:pt x="0" y="812800"/>
                  </a:lnTo>
                  <a:close/>
                </a:path>
              </a:pathLst>
            </a:custGeom>
            <a:blipFill>
              <a:blip r:embed="rId2"/>
              <a:stretch>
                <a:fillRect l="0" t="-10555" r="0" b="-10555"/>
              </a:stretch>
            </a:blipFill>
          </p:spPr>
        </p:sp>
      </p:grpSp>
      <p:grpSp>
        <p:nvGrpSpPr>
          <p:cNvPr name="Group 4" id="4"/>
          <p:cNvGrpSpPr/>
          <p:nvPr/>
        </p:nvGrpSpPr>
        <p:grpSpPr>
          <a:xfrm rot="0">
            <a:off x="-5741534" y="1542498"/>
            <a:ext cx="10945255" cy="12512400"/>
            <a:chOff x="0" y="0"/>
            <a:chExt cx="14593673" cy="16683200"/>
          </a:xfrm>
        </p:grpSpPr>
        <p:grpSp>
          <p:nvGrpSpPr>
            <p:cNvPr name="Group 5" id="5"/>
            <p:cNvGrpSpPr/>
            <p:nvPr/>
          </p:nvGrpSpPr>
          <p:grpSpPr>
            <a:xfrm rot="-8181696">
              <a:off x="3892197" y="5999425"/>
              <a:ext cx="11473623" cy="2355814"/>
              <a:chOff x="0" y="0"/>
              <a:chExt cx="31068944" cy="6379210"/>
            </a:xfrm>
          </p:grpSpPr>
          <p:sp>
            <p:nvSpPr>
              <p:cNvPr name="Freeform 6" id="6"/>
              <p:cNvSpPr/>
              <p:nvPr/>
            </p:nvSpPr>
            <p:spPr>
              <a:xfrm flipH="false" flipV="false" rot="0">
                <a:off x="0" y="0"/>
                <a:ext cx="31068944" cy="6379210"/>
              </a:xfrm>
              <a:custGeom>
                <a:avLst/>
                <a:gdLst/>
                <a:ahLst/>
                <a:cxnLst/>
                <a:rect r="r" b="b" t="t" l="l"/>
                <a:pathLst>
                  <a:path h="6379210" w="31068944">
                    <a:moveTo>
                      <a:pt x="24375114" y="0"/>
                    </a:moveTo>
                    <a:lnTo>
                      <a:pt x="7962962" y="0"/>
                    </a:lnTo>
                    <a:lnTo>
                      <a:pt x="6732101" y="7620"/>
                    </a:lnTo>
                    <a:lnTo>
                      <a:pt x="0" y="6379210"/>
                    </a:lnTo>
                    <a:lnTo>
                      <a:pt x="24423035" y="6379210"/>
                    </a:lnTo>
                    <a:lnTo>
                      <a:pt x="31068944" y="0"/>
                    </a:lnTo>
                    <a:close/>
                  </a:path>
                </a:pathLst>
              </a:custGeom>
              <a:solidFill>
                <a:srgbClr val="57AED0"/>
              </a:solidFill>
            </p:spPr>
          </p:sp>
        </p:grpSp>
        <p:grpSp>
          <p:nvGrpSpPr>
            <p:cNvPr name="Group 7" id="7"/>
            <p:cNvGrpSpPr/>
            <p:nvPr/>
          </p:nvGrpSpPr>
          <p:grpSpPr>
            <a:xfrm rot="-8181696">
              <a:off x="7414123" y="9776917"/>
              <a:ext cx="6313102" cy="451692"/>
              <a:chOff x="0" y="0"/>
              <a:chExt cx="89159396" cy="6379210"/>
            </a:xfrm>
          </p:grpSpPr>
          <p:sp>
            <p:nvSpPr>
              <p:cNvPr name="Freeform 8" id="8"/>
              <p:cNvSpPr/>
              <p:nvPr/>
            </p:nvSpPr>
            <p:spPr>
              <a:xfrm flipH="false" flipV="false" rot="0">
                <a:off x="0" y="0"/>
                <a:ext cx="89159395" cy="6379210"/>
              </a:xfrm>
              <a:custGeom>
                <a:avLst/>
                <a:gdLst/>
                <a:ahLst/>
                <a:cxnLst/>
                <a:rect r="r" b="b" t="t" l="l"/>
                <a:pathLst>
                  <a:path h="6379210" w="89159395">
                    <a:moveTo>
                      <a:pt x="82324730" y="0"/>
                    </a:moveTo>
                    <a:lnTo>
                      <a:pt x="12292687" y="0"/>
                    </a:lnTo>
                    <a:lnTo>
                      <a:pt x="7040497" y="7620"/>
                    </a:lnTo>
                    <a:lnTo>
                      <a:pt x="0" y="6379210"/>
                    </a:lnTo>
                    <a:lnTo>
                      <a:pt x="82513488" y="6379210"/>
                    </a:lnTo>
                    <a:lnTo>
                      <a:pt x="89159395" y="0"/>
                    </a:lnTo>
                    <a:close/>
                  </a:path>
                </a:pathLst>
              </a:custGeom>
              <a:solidFill>
                <a:srgbClr val="57AED0"/>
              </a:solidFill>
            </p:spPr>
          </p:sp>
        </p:grpSp>
        <p:grpSp>
          <p:nvGrpSpPr>
            <p:cNvPr name="Group 9" id="9"/>
            <p:cNvGrpSpPr/>
            <p:nvPr/>
          </p:nvGrpSpPr>
          <p:grpSpPr>
            <a:xfrm rot="-8181696">
              <a:off x="2898734" y="3235638"/>
              <a:ext cx="9648389" cy="677263"/>
              <a:chOff x="0" y="0"/>
              <a:chExt cx="90879222" cy="6379210"/>
            </a:xfrm>
          </p:grpSpPr>
          <p:sp>
            <p:nvSpPr>
              <p:cNvPr name="Freeform 10" id="10"/>
              <p:cNvSpPr/>
              <p:nvPr/>
            </p:nvSpPr>
            <p:spPr>
              <a:xfrm flipH="false" flipV="false" rot="0">
                <a:off x="0" y="0"/>
                <a:ext cx="90879222" cy="6379210"/>
              </a:xfrm>
              <a:custGeom>
                <a:avLst/>
                <a:gdLst/>
                <a:ahLst/>
                <a:cxnLst/>
                <a:rect r="r" b="b" t="t" l="l"/>
                <a:pathLst>
                  <a:path h="6379210" w="90879222">
                    <a:moveTo>
                      <a:pt x="84040390" y="0"/>
                    </a:moveTo>
                    <a:lnTo>
                      <a:pt x="12420872" y="0"/>
                    </a:lnTo>
                    <a:lnTo>
                      <a:pt x="7049627" y="7620"/>
                    </a:lnTo>
                    <a:lnTo>
                      <a:pt x="0" y="6379210"/>
                    </a:lnTo>
                    <a:lnTo>
                      <a:pt x="84233314" y="6379210"/>
                    </a:lnTo>
                    <a:lnTo>
                      <a:pt x="90879222" y="0"/>
                    </a:lnTo>
                    <a:close/>
                  </a:path>
                </a:pathLst>
              </a:custGeom>
              <a:solidFill>
                <a:srgbClr val="28699E"/>
              </a:solidFill>
            </p:spPr>
          </p:sp>
        </p:grpSp>
        <p:grpSp>
          <p:nvGrpSpPr>
            <p:cNvPr name="Group 11" id="11"/>
            <p:cNvGrpSpPr/>
            <p:nvPr/>
          </p:nvGrpSpPr>
          <p:grpSpPr>
            <a:xfrm rot="-8181696">
              <a:off x="-240225" y="7919755"/>
              <a:ext cx="13568183" cy="4735963"/>
              <a:chOff x="0" y="0"/>
              <a:chExt cx="18275966" cy="6379210"/>
            </a:xfrm>
          </p:grpSpPr>
          <p:sp>
            <p:nvSpPr>
              <p:cNvPr name="Freeform 12" id="12"/>
              <p:cNvSpPr/>
              <p:nvPr/>
            </p:nvSpPr>
            <p:spPr>
              <a:xfrm flipH="false" flipV="false" rot="0">
                <a:off x="0" y="0"/>
                <a:ext cx="18275965" cy="6379210"/>
              </a:xfrm>
              <a:custGeom>
                <a:avLst/>
                <a:gdLst/>
                <a:ahLst/>
                <a:cxnLst/>
                <a:rect r="r" b="b" t="t" l="l"/>
                <a:pathLst>
                  <a:path h="6379210" w="18275965">
                    <a:moveTo>
                      <a:pt x="11613151" y="0"/>
                    </a:moveTo>
                    <a:lnTo>
                      <a:pt x="7009448" y="0"/>
                    </a:lnTo>
                    <a:lnTo>
                      <a:pt x="6664184" y="7620"/>
                    </a:lnTo>
                    <a:lnTo>
                      <a:pt x="0" y="6379210"/>
                    </a:lnTo>
                    <a:lnTo>
                      <a:pt x="11630056" y="6379210"/>
                    </a:lnTo>
                    <a:lnTo>
                      <a:pt x="18275965" y="0"/>
                    </a:lnTo>
                    <a:close/>
                  </a:path>
                </a:pathLst>
              </a:custGeom>
              <a:solidFill>
                <a:srgbClr val="28699E"/>
              </a:solidFill>
            </p:spPr>
          </p:sp>
        </p:grpSp>
        <p:grpSp>
          <p:nvGrpSpPr>
            <p:cNvPr name="Group 13" id="13"/>
            <p:cNvGrpSpPr/>
            <p:nvPr/>
          </p:nvGrpSpPr>
          <p:grpSpPr>
            <a:xfrm rot="-8181696">
              <a:off x="4467420" y="4545019"/>
              <a:ext cx="9905096" cy="242163"/>
              <a:chOff x="0" y="0"/>
              <a:chExt cx="260926501" cy="6379210"/>
            </a:xfrm>
          </p:grpSpPr>
          <p:sp>
            <p:nvSpPr>
              <p:cNvPr name="Freeform 14" id="14"/>
              <p:cNvSpPr/>
              <p:nvPr/>
            </p:nvSpPr>
            <p:spPr>
              <a:xfrm flipH="false" flipV="false" rot="0">
                <a:off x="0" y="0"/>
                <a:ext cx="260926511" cy="6379210"/>
              </a:xfrm>
              <a:custGeom>
                <a:avLst/>
                <a:gdLst/>
                <a:ahLst/>
                <a:cxnLst/>
                <a:rect r="r" b="b" t="t" l="l"/>
                <a:pathLst>
                  <a:path h="6379210" w="260926511">
                    <a:moveTo>
                      <a:pt x="253675406" y="0"/>
                    </a:moveTo>
                    <a:lnTo>
                      <a:pt x="25095208" y="0"/>
                    </a:lnTo>
                    <a:lnTo>
                      <a:pt x="7952391" y="7620"/>
                    </a:lnTo>
                    <a:lnTo>
                      <a:pt x="0" y="6379210"/>
                    </a:lnTo>
                    <a:lnTo>
                      <a:pt x="254280591" y="6379210"/>
                    </a:lnTo>
                    <a:lnTo>
                      <a:pt x="260926511" y="0"/>
                    </a:lnTo>
                    <a:close/>
                  </a:path>
                </a:pathLst>
              </a:custGeom>
              <a:solidFill>
                <a:srgbClr val="28699E"/>
              </a:solidFill>
            </p:spPr>
          </p:sp>
        </p:grpSp>
        <p:sp>
          <p:nvSpPr>
            <p:cNvPr name="AutoShape 15" id="15"/>
            <p:cNvSpPr/>
            <p:nvPr/>
          </p:nvSpPr>
          <p:spPr>
            <a:xfrm rot="2614680">
              <a:off x="5023915" y="5649377"/>
              <a:ext cx="4559418" cy="0"/>
            </a:xfrm>
            <a:prstGeom prst="line">
              <a:avLst/>
            </a:prstGeom>
            <a:ln cap="rnd" w="57150">
              <a:solidFill>
                <a:srgbClr val="28699E"/>
              </a:solidFill>
              <a:prstDash val="solid"/>
              <a:headEnd type="none" len="sm" w="sm"/>
              <a:tailEnd type="none" len="sm" w="sm"/>
            </a:ln>
          </p:spPr>
        </p:sp>
        <p:sp>
          <p:nvSpPr>
            <p:cNvPr name="AutoShape 16" id="16"/>
            <p:cNvSpPr/>
            <p:nvPr/>
          </p:nvSpPr>
          <p:spPr>
            <a:xfrm rot="2630988">
              <a:off x="9074184" y="9396514"/>
              <a:ext cx="6390689" cy="0"/>
            </a:xfrm>
            <a:prstGeom prst="line">
              <a:avLst/>
            </a:prstGeom>
            <a:ln cap="rnd" w="57150">
              <a:solidFill>
                <a:srgbClr val="28699E"/>
              </a:solidFill>
              <a:prstDash val="solid"/>
              <a:headEnd type="none" len="sm" w="sm"/>
              <a:tailEnd type="none" len="sm" w="sm"/>
            </a:ln>
          </p:spPr>
        </p:sp>
        <p:sp>
          <p:nvSpPr>
            <p:cNvPr name="AutoShape 17" id="17"/>
            <p:cNvSpPr/>
            <p:nvPr/>
          </p:nvSpPr>
          <p:spPr>
            <a:xfrm rot="0">
              <a:off x="8929578" y="7204706"/>
              <a:ext cx="1073473" cy="0"/>
            </a:xfrm>
            <a:prstGeom prst="line">
              <a:avLst/>
            </a:prstGeom>
            <a:ln cap="rnd" w="57150">
              <a:solidFill>
                <a:srgbClr val="28699E"/>
              </a:solidFill>
              <a:prstDash val="solid"/>
              <a:headEnd type="none" len="sm" w="sm"/>
              <a:tailEnd type="none" len="sm" w="sm"/>
            </a:ln>
          </p:spPr>
        </p:sp>
      </p:grpSp>
      <p:grpSp>
        <p:nvGrpSpPr>
          <p:cNvPr name="Group 18" id="18"/>
          <p:cNvGrpSpPr/>
          <p:nvPr/>
        </p:nvGrpSpPr>
        <p:grpSpPr>
          <a:xfrm rot="0">
            <a:off x="14717545" y="-1825683"/>
            <a:ext cx="7493211" cy="7769715"/>
            <a:chOff x="0" y="0"/>
            <a:chExt cx="9990948" cy="10359619"/>
          </a:xfrm>
        </p:grpSpPr>
        <p:grpSp>
          <p:nvGrpSpPr>
            <p:cNvPr name="Group 19" id="19"/>
            <p:cNvGrpSpPr/>
            <p:nvPr/>
          </p:nvGrpSpPr>
          <p:grpSpPr>
            <a:xfrm rot="-8181696">
              <a:off x="282707" y="5165971"/>
              <a:ext cx="9551192" cy="2202212"/>
              <a:chOff x="0" y="0"/>
              <a:chExt cx="27667205" cy="6379210"/>
            </a:xfrm>
          </p:grpSpPr>
          <p:sp>
            <p:nvSpPr>
              <p:cNvPr name="Freeform 20" id="20"/>
              <p:cNvSpPr/>
              <p:nvPr/>
            </p:nvSpPr>
            <p:spPr>
              <a:xfrm flipH="false" flipV="false" rot="0">
                <a:off x="0" y="0"/>
                <a:ext cx="27667204" cy="6379210"/>
              </a:xfrm>
              <a:custGeom>
                <a:avLst/>
                <a:gdLst/>
                <a:ahLst/>
                <a:cxnLst/>
                <a:rect r="r" b="b" t="t" l="l"/>
                <a:pathLst>
                  <a:path h="6379210" w="27667204">
                    <a:moveTo>
                      <a:pt x="20981622" y="0"/>
                    </a:moveTo>
                    <a:lnTo>
                      <a:pt x="7709416" y="0"/>
                    </a:lnTo>
                    <a:lnTo>
                      <a:pt x="6714041" y="7620"/>
                    </a:lnTo>
                    <a:lnTo>
                      <a:pt x="0" y="6379210"/>
                    </a:lnTo>
                    <a:lnTo>
                      <a:pt x="21021295" y="6379210"/>
                    </a:lnTo>
                    <a:lnTo>
                      <a:pt x="27667204" y="0"/>
                    </a:lnTo>
                    <a:close/>
                  </a:path>
                </a:pathLst>
              </a:custGeom>
              <a:solidFill>
                <a:srgbClr val="57AED0"/>
              </a:solidFill>
            </p:spPr>
          </p:sp>
        </p:grpSp>
        <p:grpSp>
          <p:nvGrpSpPr>
            <p:cNvPr name="Group 21" id="21"/>
            <p:cNvGrpSpPr/>
            <p:nvPr/>
          </p:nvGrpSpPr>
          <p:grpSpPr>
            <a:xfrm rot="-8181696">
              <a:off x="-682459" y="3018568"/>
              <a:ext cx="8961876" cy="533846"/>
              <a:chOff x="0" y="0"/>
              <a:chExt cx="107090196" cy="6379210"/>
            </a:xfrm>
          </p:grpSpPr>
          <p:sp>
            <p:nvSpPr>
              <p:cNvPr name="Freeform 22" id="22"/>
              <p:cNvSpPr/>
              <p:nvPr/>
            </p:nvSpPr>
            <p:spPr>
              <a:xfrm flipH="false" flipV="false" rot="0">
                <a:off x="0" y="0"/>
                <a:ext cx="107090195" cy="6379210"/>
              </a:xfrm>
              <a:custGeom>
                <a:avLst/>
                <a:gdLst/>
                <a:ahLst/>
                <a:cxnLst/>
                <a:rect r="r" b="b" t="t" l="l"/>
                <a:pathLst>
                  <a:path h="6379210" w="107090195">
                    <a:moveTo>
                      <a:pt x="100212060" y="0"/>
                    </a:moveTo>
                    <a:lnTo>
                      <a:pt x="13629145" y="0"/>
                    </a:lnTo>
                    <a:lnTo>
                      <a:pt x="7135690" y="7620"/>
                    </a:lnTo>
                    <a:lnTo>
                      <a:pt x="0" y="6379210"/>
                    </a:lnTo>
                    <a:lnTo>
                      <a:pt x="100444288" y="6379210"/>
                    </a:lnTo>
                    <a:lnTo>
                      <a:pt x="107090195" y="0"/>
                    </a:lnTo>
                    <a:close/>
                  </a:path>
                </a:pathLst>
              </a:custGeom>
              <a:solidFill>
                <a:srgbClr val="28699E"/>
              </a:solidFill>
            </p:spPr>
          </p:sp>
        </p:grpSp>
        <p:grpSp>
          <p:nvGrpSpPr>
            <p:cNvPr name="Group 23" id="23"/>
            <p:cNvGrpSpPr/>
            <p:nvPr/>
          </p:nvGrpSpPr>
          <p:grpSpPr>
            <a:xfrm rot="-8181696">
              <a:off x="3093312" y="4235098"/>
              <a:ext cx="7412122" cy="1476478"/>
              <a:chOff x="0" y="0"/>
              <a:chExt cx="32024506" cy="6379210"/>
            </a:xfrm>
          </p:grpSpPr>
          <p:sp>
            <p:nvSpPr>
              <p:cNvPr name="Freeform 24" id="24"/>
              <p:cNvSpPr/>
              <p:nvPr/>
            </p:nvSpPr>
            <p:spPr>
              <a:xfrm flipH="false" flipV="false" rot="0">
                <a:off x="0" y="0"/>
                <a:ext cx="32024507" cy="6379210"/>
              </a:xfrm>
              <a:custGeom>
                <a:avLst/>
                <a:gdLst/>
                <a:ahLst/>
                <a:cxnLst/>
                <a:rect r="r" b="b" t="t" l="l"/>
                <a:pathLst>
                  <a:path h="6379210" w="32024507">
                    <a:moveTo>
                      <a:pt x="25328359" y="0"/>
                    </a:moveTo>
                    <a:lnTo>
                      <a:pt x="8034184" y="0"/>
                    </a:lnTo>
                    <a:lnTo>
                      <a:pt x="6737174" y="7620"/>
                    </a:lnTo>
                    <a:lnTo>
                      <a:pt x="0" y="6379210"/>
                    </a:lnTo>
                    <a:lnTo>
                      <a:pt x="25378597" y="6379210"/>
                    </a:lnTo>
                    <a:lnTo>
                      <a:pt x="32024507" y="0"/>
                    </a:lnTo>
                    <a:close/>
                  </a:path>
                </a:pathLst>
              </a:custGeom>
              <a:solidFill>
                <a:srgbClr val="28699E"/>
              </a:solidFill>
            </p:spPr>
          </p:sp>
        </p:grpSp>
        <p:sp>
          <p:nvSpPr>
            <p:cNvPr name="AutoShape 25" id="25"/>
            <p:cNvSpPr/>
            <p:nvPr/>
          </p:nvSpPr>
          <p:spPr>
            <a:xfrm rot="2614680">
              <a:off x="-608507" y="3428437"/>
              <a:ext cx="4559418" cy="0"/>
            </a:xfrm>
            <a:prstGeom prst="line">
              <a:avLst/>
            </a:prstGeom>
            <a:ln cap="rnd" w="57150">
              <a:solidFill>
                <a:srgbClr val="28699E"/>
              </a:solidFill>
              <a:prstDash val="solid"/>
              <a:headEnd type="none" len="sm" w="sm"/>
              <a:tailEnd type="none" len="sm" w="sm"/>
            </a:ln>
          </p:spPr>
        </p:sp>
        <p:sp>
          <p:nvSpPr>
            <p:cNvPr name="AutoShape 26" id="26"/>
            <p:cNvSpPr/>
            <p:nvPr/>
          </p:nvSpPr>
          <p:spPr>
            <a:xfrm rot="2630988">
              <a:off x="3441762" y="7175574"/>
              <a:ext cx="6390689" cy="0"/>
            </a:xfrm>
            <a:prstGeom prst="line">
              <a:avLst/>
            </a:prstGeom>
            <a:ln cap="rnd" w="57150">
              <a:solidFill>
                <a:srgbClr val="28699E"/>
              </a:solidFill>
              <a:prstDash val="solid"/>
              <a:headEnd type="none" len="sm" w="sm"/>
              <a:tailEnd type="none" len="sm" w="sm"/>
            </a:ln>
          </p:spPr>
        </p:sp>
        <p:sp>
          <p:nvSpPr>
            <p:cNvPr name="AutoShape 27" id="27"/>
            <p:cNvSpPr/>
            <p:nvPr/>
          </p:nvSpPr>
          <p:spPr>
            <a:xfrm rot="0">
              <a:off x="3297156" y="4983766"/>
              <a:ext cx="1073473" cy="0"/>
            </a:xfrm>
            <a:prstGeom prst="line">
              <a:avLst/>
            </a:prstGeom>
            <a:ln cap="rnd" w="57150">
              <a:solidFill>
                <a:srgbClr val="28699E"/>
              </a:solidFill>
              <a:prstDash val="solid"/>
              <a:headEnd type="none" len="sm" w="sm"/>
              <a:tailEnd type="none" len="sm" w="sm"/>
            </a:ln>
          </p:spPr>
        </p:sp>
      </p:grpSp>
      <p:sp>
        <p:nvSpPr>
          <p:cNvPr name="TextBox 28" id="28"/>
          <p:cNvSpPr txBox="true"/>
          <p:nvPr/>
        </p:nvSpPr>
        <p:spPr>
          <a:xfrm rot="0">
            <a:off x="3269225" y="6079353"/>
            <a:ext cx="13990075" cy="3178947"/>
          </a:xfrm>
          <a:prstGeom prst="rect">
            <a:avLst/>
          </a:prstGeom>
        </p:spPr>
        <p:txBody>
          <a:bodyPr anchor="t" rtlCol="false" tIns="0" lIns="0" bIns="0" rIns="0">
            <a:spAutoFit/>
          </a:bodyPr>
          <a:lstStyle/>
          <a:p>
            <a:pPr algn="r" marL="0" indent="0" lvl="0">
              <a:lnSpc>
                <a:spcPts val="12224"/>
              </a:lnSpc>
            </a:pPr>
            <a:r>
              <a:rPr lang="en-US" sz="12733">
                <a:solidFill>
                  <a:srgbClr val="FFFFFF"/>
                </a:solidFill>
                <a:latin typeface="Canva Sans"/>
                <a:ea typeface="Canva Sans"/>
                <a:cs typeface="Canva Sans"/>
                <a:sym typeface="Canva Sans"/>
              </a:rPr>
              <a:t>Secure Share Distribution</a:t>
            </a:r>
          </a:p>
        </p:txBody>
      </p:sp>
    </p:spTree>
  </p:cSld>
  <p:clrMapOvr>
    <a:masterClrMapping/>
  </p:clrMapOvr>
</p:sld>
</file>

<file path=ppt/slides/slide18.xml><?xml version="1.0" encoding="utf-8"?>
<p:sld xmlns:p="http://schemas.openxmlformats.org/presentationml/2006/main" xmlns:a="http://schemas.openxmlformats.org/drawingml/2006/main">
  <p:cSld>
    <p:bg>
      <p:bgPr>
        <a:solidFill>
          <a:srgbClr val="253439"/>
        </a:solidFill>
      </p:bgPr>
    </p:bg>
    <p:spTree>
      <p:nvGrpSpPr>
        <p:cNvPr id="1" name=""/>
        <p:cNvGrpSpPr/>
        <p:nvPr/>
      </p:nvGrpSpPr>
      <p:grpSpPr>
        <a:xfrm>
          <a:off x="0" y="0"/>
          <a:ext cx="0" cy="0"/>
          <a:chOff x="0" y="0"/>
          <a:chExt cx="0" cy="0"/>
        </a:xfrm>
      </p:grpSpPr>
      <p:sp>
        <p:nvSpPr>
          <p:cNvPr name="TextBox 2" id="2"/>
          <p:cNvSpPr txBox="true"/>
          <p:nvPr/>
        </p:nvSpPr>
        <p:spPr>
          <a:xfrm rot="0">
            <a:off x="514350" y="721057"/>
            <a:ext cx="17259300" cy="3203951"/>
          </a:xfrm>
          <a:prstGeom prst="rect">
            <a:avLst/>
          </a:prstGeom>
        </p:spPr>
        <p:txBody>
          <a:bodyPr anchor="t" rtlCol="false" tIns="0" lIns="0" bIns="0" rIns="0">
            <a:spAutoFit/>
          </a:bodyPr>
          <a:lstStyle/>
          <a:p>
            <a:pPr algn="ctr">
              <a:lnSpc>
                <a:spcPts val="5154"/>
              </a:lnSpc>
            </a:pPr>
            <a:r>
              <a:rPr lang="en-US" sz="3459" spc="-51">
                <a:solidFill>
                  <a:srgbClr val="FFFFFF"/>
                </a:solidFill>
                <a:latin typeface="Prompt"/>
                <a:ea typeface="Prompt"/>
                <a:cs typeface="Prompt"/>
                <a:sym typeface="Prompt"/>
              </a:rPr>
              <a:t>Secure Share Distribution for Dead Man’s Switch  systems involves splitting sensitive data into encrypted shares, distributing them across secure locations, and allowing authorized to reconstruct the data upon triggering conditions. This process typically uses cryptographic methods like Shamir’s Secret Sharing Scheme encryption to ensure confidentiality.</a:t>
            </a:r>
          </a:p>
        </p:txBody>
      </p:sp>
      <p:sp>
        <p:nvSpPr>
          <p:cNvPr name="TextBox 3" id="3"/>
          <p:cNvSpPr txBox="true"/>
          <p:nvPr/>
        </p:nvSpPr>
        <p:spPr>
          <a:xfrm rot="0">
            <a:off x="805279" y="5510052"/>
            <a:ext cx="16677441" cy="2187399"/>
          </a:xfrm>
          <a:prstGeom prst="rect">
            <a:avLst/>
          </a:prstGeom>
        </p:spPr>
        <p:txBody>
          <a:bodyPr anchor="t" rtlCol="false" tIns="0" lIns="0" bIns="0" rIns="0">
            <a:spAutoFit/>
          </a:bodyPr>
          <a:lstStyle/>
          <a:p>
            <a:pPr algn="l">
              <a:lnSpc>
                <a:spcPts val="4359"/>
              </a:lnSpc>
            </a:pPr>
            <a:r>
              <a:rPr lang="en-US" sz="2986" spc="-44">
                <a:solidFill>
                  <a:srgbClr val="2E83D1"/>
                </a:solidFill>
                <a:latin typeface="Prompt"/>
                <a:ea typeface="Prompt"/>
                <a:cs typeface="Prompt"/>
                <a:sym typeface="Prompt"/>
              </a:rPr>
              <a:t>Why Use Secure Share Distribution?</a:t>
            </a:r>
          </a:p>
          <a:p>
            <a:pPr algn="l" marL="644700" indent="-322350" lvl="1">
              <a:lnSpc>
                <a:spcPts val="4359"/>
              </a:lnSpc>
              <a:buFont typeface="Arial"/>
              <a:buChar char="•"/>
            </a:pPr>
            <a:r>
              <a:rPr lang="en-US" sz="2986" spc="-44">
                <a:solidFill>
                  <a:srgbClr val="FFFFFF"/>
                </a:solidFill>
                <a:latin typeface="Prompt"/>
                <a:ea typeface="Prompt"/>
                <a:cs typeface="Prompt"/>
                <a:sym typeface="Prompt"/>
              </a:rPr>
              <a:t>No single control – One person alone can’t activate it.</a:t>
            </a:r>
          </a:p>
          <a:p>
            <a:pPr algn="l" marL="644700" indent="-322350" lvl="1">
              <a:lnSpc>
                <a:spcPts val="4359"/>
              </a:lnSpc>
              <a:buFont typeface="Arial"/>
              <a:buChar char="•"/>
            </a:pPr>
            <a:r>
              <a:rPr lang="en-US" sz="2986" spc="-44">
                <a:solidFill>
                  <a:srgbClr val="FFFFFF"/>
                </a:solidFill>
                <a:latin typeface="Prompt"/>
                <a:ea typeface="Prompt"/>
                <a:cs typeface="Prompt"/>
                <a:sym typeface="Prompt"/>
              </a:rPr>
              <a:t>Still works if some parts are lost – The system stays safe even if some shares are missing.</a:t>
            </a:r>
          </a:p>
          <a:p>
            <a:pPr algn="l" marL="644700" indent="-322350" lvl="1">
              <a:lnSpc>
                <a:spcPts val="4359"/>
              </a:lnSpc>
              <a:buFont typeface="Arial"/>
              <a:buChar char="•"/>
            </a:pPr>
            <a:r>
              <a:rPr lang="en-US" sz="2986" spc="-44">
                <a:solidFill>
                  <a:srgbClr val="FFFFFF"/>
                </a:solidFill>
                <a:latin typeface="Prompt"/>
                <a:ea typeface="Prompt"/>
                <a:cs typeface="Prompt"/>
                <a:sym typeface="Prompt"/>
              </a:rPr>
              <a:t>Needs group agreement – It starts only when enough people agree.</a:t>
            </a:r>
          </a:p>
        </p:txBody>
      </p:sp>
    </p:spTree>
  </p:cSld>
  <p:clrMapOvr>
    <a:masterClrMapping/>
  </p:clrMapOvr>
</p:sld>
</file>

<file path=ppt/slides/slide19.xml><?xml version="1.0" encoding="utf-8"?>
<p:sld xmlns:p="http://schemas.openxmlformats.org/presentationml/2006/main" xmlns:a="http://schemas.openxmlformats.org/drawingml/2006/main">
  <p:cSld>
    <p:bg>
      <p:bgPr>
        <a:solidFill>
          <a:srgbClr val="253439"/>
        </a:solidFill>
      </p:bgPr>
    </p:bg>
    <p:spTree>
      <p:nvGrpSpPr>
        <p:cNvPr id="1" name=""/>
        <p:cNvGrpSpPr/>
        <p:nvPr/>
      </p:nvGrpSpPr>
      <p:grpSpPr>
        <a:xfrm>
          <a:off x="0" y="0"/>
          <a:ext cx="0" cy="0"/>
          <a:chOff x="0" y="0"/>
          <a:chExt cx="0" cy="0"/>
        </a:xfrm>
      </p:grpSpPr>
      <p:sp>
        <p:nvSpPr>
          <p:cNvPr name="TextBox 2" id="2"/>
          <p:cNvSpPr txBox="true"/>
          <p:nvPr/>
        </p:nvSpPr>
        <p:spPr>
          <a:xfrm rot="0">
            <a:off x="796172" y="484438"/>
            <a:ext cx="2745700" cy="398145"/>
          </a:xfrm>
          <a:prstGeom prst="rect">
            <a:avLst/>
          </a:prstGeom>
        </p:spPr>
        <p:txBody>
          <a:bodyPr anchor="t" rtlCol="false" tIns="0" lIns="0" bIns="0" rIns="0">
            <a:spAutoFit/>
          </a:bodyPr>
          <a:lstStyle/>
          <a:p>
            <a:pPr algn="ctr">
              <a:lnSpc>
                <a:spcPts val="3104"/>
              </a:lnSpc>
              <a:spcBef>
                <a:spcPct val="0"/>
              </a:spcBef>
            </a:pPr>
            <a:r>
              <a:rPr lang="en-US" sz="2700" spc="-40">
                <a:solidFill>
                  <a:srgbClr val="FFFFFF"/>
                </a:solidFill>
                <a:latin typeface="Prompt"/>
                <a:ea typeface="Prompt"/>
                <a:cs typeface="Prompt"/>
                <a:sym typeface="Prompt"/>
              </a:rPr>
              <a:t>Worked Example</a:t>
            </a:r>
          </a:p>
        </p:txBody>
      </p:sp>
      <p:sp>
        <p:nvSpPr>
          <p:cNvPr name="TextBox 3" id="3"/>
          <p:cNvSpPr txBox="true"/>
          <p:nvPr/>
        </p:nvSpPr>
        <p:spPr>
          <a:xfrm rot="0">
            <a:off x="1028700" y="2372414"/>
            <a:ext cx="8406289" cy="1569720"/>
          </a:xfrm>
          <a:prstGeom prst="rect">
            <a:avLst/>
          </a:prstGeom>
        </p:spPr>
        <p:txBody>
          <a:bodyPr anchor="t" rtlCol="false" tIns="0" lIns="0" bIns="0" rIns="0">
            <a:spAutoFit/>
          </a:bodyPr>
          <a:lstStyle/>
          <a:p>
            <a:pPr algn="l" marL="582930" indent="-291465" lvl="1">
              <a:lnSpc>
                <a:spcPts val="3104"/>
              </a:lnSpc>
              <a:buFont typeface="Arial"/>
              <a:buChar char="•"/>
            </a:pPr>
            <a:r>
              <a:rPr lang="en-US" sz="2700" spc="-40">
                <a:solidFill>
                  <a:srgbClr val="FFFFFF"/>
                </a:solidFill>
                <a:latin typeface="Prompt"/>
                <a:ea typeface="Prompt"/>
                <a:cs typeface="Prompt"/>
                <a:sym typeface="Prompt"/>
              </a:rPr>
              <a:t>Secret (S): 987</a:t>
            </a:r>
          </a:p>
          <a:p>
            <a:pPr algn="l" marL="582930" indent="-291465" lvl="1">
              <a:lnSpc>
                <a:spcPts val="3104"/>
              </a:lnSpc>
              <a:buFont typeface="Arial"/>
              <a:buChar char="•"/>
            </a:pPr>
            <a:r>
              <a:rPr lang="en-US" sz="2700" spc="-40">
                <a:solidFill>
                  <a:srgbClr val="FFFFFF"/>
                </a:solidFill>
                <a:latin typeface="Prompt"/>
                <a:ea typeface="Prompt"/>
                <a:cs typeface="Prompt"/>
                <a:sym typeface="Prompt"/>
              </a:rPr>
              <a:t>Threshold (t): 4</a:t>
            </a:r>
          </a:p>
          <a:p>
            <a:pPr algn="l" marL="582930" indent="-291465" lvl="1">
              <a:lnSpc>
                <a:spcPts val="3104"/>
              </a:lnSpc>
              <a:buFont typeface="Arial"/>
              <a:buChar char="•"/>
            </a:pPr>
            <a:r>
              <a:rPr lang="en-US" sz="2700" spc="-40">
                <a:solidFill>
                  <a:srgbClr val="FFFFFF"/>
                </a:solidFill>
                <a:latin typeface="Prompt"/>
                <a:ea typeface="Prompt"/>
                <a:cs typeface="Prompt"/>
                <a:sym typeface="Prompt"/>
              </a:rPr>
              <a:t>Total Shares (n): 6</a:t>
            </a:r>
          </a:p>
          <a:p>
            <a:pPr algn="l" marL="582930" indent="-291465" lvl="1">
              <a:lnSpc>
                <a:spcPts val="3104"/>
              </a:lnSpc>
              <a:buFont typeface="Arial"/>
              <a:buChar char="•"/>
            </a:pPr>
            <a:r>
              <a:rPr lang="en-US" sz="2700" spc="-40">
                <a:solidFill>
                  <a:srgbClr val="FFFFFF"/>
                </a:solidFill>
                <a:latin typeface="Prompt"/>
                <a:ea typeface="Prompt"/>
                <a:cs typeface="Prompt"/>
                <a:sym typeface="Prompt"/>
              </a:rPr>
              <a:t>Prime (p): 1237 (a prime greater than the secret)</a:t>
            </a:r>
          </a:p>
        </p:txBody>
      </p:sp>
      <p:sp>
        <p:nvSpPr>
          <p:cNvPr name="TextBox 4" id="4"/>
          <p:cNvSpPr txBox="true"/>
          <p:nvPr/>
        </p:nvSpPr>
        <p:spPr>
          <a:xfrm rot="0">
            <a:off x="796172" y="1233163"/>
            <a:ext cx="14741183" cy="845146"/>
          </a:xfrm>
          <a:prstGeom prst="rect">
            <a:avLst/>
          </a:prstGeom>
        </p:spPr>
        <p:txBody>
          <a:bodyPr anchor="t" rtlCol="false" tIns="0" lIns="0" bIns="0" rIns="0">
            <a:spAutoFit/>
          </a:bodyPr>
          <a:lstStyle/>
          <a:p>
            <a:pPr algn="l">
              <a:lnSpc>
                <a:spcPts val="3324"/>
              </a:lnSpc>
              <a:spcBef>
                <a:spcPct val="0"/>
              </a:spcBef>
            </a:pPr>
            <a:r>
              <a:rPr lang="en-US" sz="2891" spc="-43">
                <a:solidFill>
                  <a:srgbClr val="FFFFFF"/>
                </a:solidFill>
                <a:latin typeface="Prompt"/>
                <a:ea typeface="Prompt"/>
                <a:cs typeface="Prompt"/>
                <a:sym typeface="Prompt"/>
              </a:rPr>
              <a:t>Let’s say your Dead Man’s Switch system is protecting a system shutdown key.</a:t>
            </a:r>
          </a:p>
          <a:p>
            <a:pPr algn="l">
              <a:lnSpc>
                <a:spcPts val="3324"/>
              </a:lnSpc>
              <a:spcBef>
                <a:spcPct val="0"/>
              </a:spcBef>
            </a:pPr>
            <a:r>
              <a:rPr lang="en-US" sz="2891" spc="-43">
                <a:solidFill>
                  <a:srgbClr val="FFFFFF"/>
                </a:solidFill>
                <a:latin typeface="Prompt"/>
                <a:ea typeface="Prompt"/>
                <a:cs typeface="Prompt"/>
                <a:sym typeface="Prompt"/>
              </a:rPr>
              <a:t> You want to divide it among 6 officers, where any 4 together can recover it.</a:t>
            </a:r>
          </a:p>
        </p:txBody>
      </p:sp>
      <p:sp>
        <p:nvSpPr>
          <p:cNvPr name="TextBox 5" id="5"/>
          <p:cNvSpPr txBox="true"/>
          <p:nvPr/>
        </p:nvSpPr>
        <p:spPr>
          <a:xfrm rot="0">
            <a:off x="1461444" y="4866078"/>
            <a:ext cx="10454044" cy="4194891"/>
          </a:xfrm>
          <a:prstGeom prst="rect">
            <a:avLst/>
          </a:prstGeom>
        </p:spPr>
        <p:txBody>
          <a:bodyPr anchor="t" rtlCol="false" tIns="0" lIns="0" bIns="0" rIns="0">
            <a:spAutoFit/>
          </a:bodyPr>
          <a:lstStyle/>
          <a:p>
            <a:pPr algn="l">
              <a:lnSpc>
                <a:spcPts val="4154"/>
              </a:lnSpc>
              <a:spcBef>
                <a:spcPct val="0"/>
              </a:spcBef>
            </a:pPr>
            <a:r>
              <a:rPr lang="en-US" sz="3612" spc="-54">
                <a:solidFill>
                  <a:srgbClr val="FFFFFF"/>
                </a:solidFill>
                <a:latin typeface="Prompt"/>
                <a:ea typeface="Prompt"/>
                <a:cs typeface="Prompt"/>
                <a:sym typeface="Prompt"/>
              </a:rPr>
              <a:t>1. Build the Random Polynomial</a:t>
            </a:r>
          </a:p>
          <a:p>
            <a:pPr algn="l">
              <a:lnSpc>
                <a:spcPts val="4154"/>
              </a:lnSpc>
              <a:spcBef>
                <a:spcPct val="0"/>
              </a:spcBef>
            </a:pPr>
            <a:r>
              <a:rPr lang="en-US" sz="3612" spc="-54">
                <a:solidFill>
                  <a:srgbClr val="FFFFFF"/>
                </a:solidFill>
                <a:latin typeface="Prompt"/>
                <a:ea typeface="Prompt"/>
                <a:cs typeface="Prompt"/>
                <a:sym typeface="Prompt"/>
              </a:rPr>
              <a:t>Since t = 4, we need a degree 3 polynomial:</a:t>
            </a:r>
          </a:p>
          <a:p>
            <a:pPr algn="l">
              <a:lnSpc>
                <a:spcPts val="4154"/>
              </a:lnSpc>
              <a:spcBef>
                <a:spcPct val="0"/>
              </a:spcBef>
            </a:pPr>
            <a:r>
              <a:rPr lang="en-US" sz="3612" spc="-54">
                <a:solidFill>
                  <a:srgbClr val="FFFFFF"/>
                </a:solidFill>
                <a:latin typeface="Prompt"/>
                <a:ea typeface="Prompt"/>
                <a:cs typeface="Prompt"/>
                <a:sym typeface="Prompt"/>
              </a:rPr>
              <a:t>· 987(the secret)</a:t>
            </a:r>
          </a:p>
          <a:p>
            <a:pPr algn="l">
              <a:lnSpc>
                <a:spcPts val="4154"/>
              </a:lnSpc>
              <a:spcBef>
                <a:spcPct val="0"/>
              </a:spcBef>
            </a:pPr>
            <a:r>
              <a:rPr lang="en-US" sz="3612" spc="-54">
                <a:solidFill>
                  <a:srgbClr val="FFFFFF"/>
                </a:solidFill>
                <a:latin typeface="Prompt"/>
                <a:ea typeface="Prompt"/>
                <a:cs typeface="Prompt"/>
                <a:sym typeface="Prompt"/>
              </a:rPr>
              <a:t>· 120(random)</a:t>
            </a:r>
          </a:p>
          <a:p>
            <a:pPr algn="l">
              <a:lnSpc>
                <a:spcPts val="4154"/>
              </a:lnSpc>
              <a:spcBef>
                <a:spcPct val="0"/>
              </a:spcBef>
            </a:pPr>
            <a:r>
              <a:rPr lang="en-US" sz="3612" spc="-54">
                <a:solidFill>
                  <a:srgbClr val="FFFFFF"/>
                </a:solidFill>
                <a:latin typeface="Prompt"/>
                <a:ea typeface="Prompt"/>
                <a:cs typeface="Prompt"/>
                <a:sym typeface="Prompt"/>
              </a:rPr>
              <a:t>· 77(random)</a:t>
            </a:r>
          </a:p>
          <a:p>
            <a:pPr algn="l">
              <a:lnSpc>
                <a:spcPts val="4154"/>
              </a:lnSpc>
              <a:spcBef>
                <a:spcPct val="0"/>
              </a:spcBef>
            </a:pPr>
            <a:r>
              <a:rPr lang="en-US" sz="3612" spc="-54">
                <a:solidFill>
                  <a:srgbClr val="FFFFFF"/>
                </a:solidFill>
                <a:latin typeface="Prompt"/>
                <a:ea typeface="Prompt"/>
                <a:cs typeface="Prompt"/>
                <a:sym typeface="Prompt"/>
              </a:rPr>
              <a:t>· 210(random)</a:t>
            </a:r>
          </a:p>
          <a:p>
            <a:pPr algn="l">
              <a:lnSpc>
                <a:spcPts val="4154"/>
              </a:lnSpc>
              <a:spcBef>
                <a:spcPct val="0"/>
              </a:spcBef>
            </a:pPr>
            <a:r>
              <a:rPr lang="en-US" sz="3612" spc="-54">
                <a:solidFill>
                  <a:srgbClr val="FFFFFF"/>
                </a:solidFill>
                <a:latin typeface="Prompt"/>
                <a:ea typeface="Prompt"/>
                <a:cs typeface="Prompt"/>
                <a:sym typeface="Prompt"/>
              </a:rPr>
              <a:t>Polynomial:</a:t>
            </a:r>
          </a:p>
          <a:p>
            <a:pPr algn="l">
              <a:lnSpc>
                <a:spcPts val="4154"/>
              </a:lnSpc>
              <a:spcBef>
                <a:spcPct val="0"/>
              </a:spcBef>
            </a:pPr>
            <a:r>
              <a:rPr lang="en-US" sz="3612" spc="-54">
                <a:solidFill>
                  <a:srgbClr val="FFFFFF"/>
                </a:solidFill>
                <a:latin typeface="Prompt"/>
                <a:ea typeface="Prompt"/>
                <a:cs typeface="Prompt"/>
                <a:sym typeface="Prompt"/>
              </a:rPr>
              <a:t>         f(x) = 987 + 120x + 77x</a:t>
            </a:r>
            <a:r>
              <a:rPr lang="en-US" sz="3612" spc="-54">
                <a:solidFill>
                  <a:srgbClr val="FFFFFF"/>
                </a:solidFill>
                <a:latin typeface="Prompt"/>
                <a:ea typeface="Prompt"/>
                <a:cs typeface="Prompt"/>
                <a:sym typeface="Prompt"/>
              </a:rPr>
              <a:t>2</a:t>
            </a:r>
            <a:r>
              <a:rPr lang="en-US" sz="3612" spc="-54">
                <a:solidFill>
                  <a:srgbClr val="FFFFFF"/>
                </a:solidFill>
                <a:latin typeface="Prompt"/>
                <a:ea typeface="Prompt"/>
                <a:cs typeface="Prompt"/>
                <a:sym typeface="Prompt"/>
              </a:rPr>
              <a:t> + 210x</a:t>
            </a:r>
            <a:r>
              <a:rPr lang="en-US" sz="3612" spc="-54">
                <a:solidFill>
                  <a:srgbClr val="FFFFFF"/>
                </a:solidFill>
                <a:latin typeface="Prompt"/>
                <a:ea typeface="Prompt"/>
                <a:cs typeface="Prompt"/>
                <a:sym typeface="Prompt"/>
              </a:rPr>
              <a:t>3</a:t>
            </a:r>
            <a:r>
              <a:rPr lang="en-US" sz="3612" spc="-54">
                <a:solidFill>
                  <a:srgbClr val="FFFFFF"/>
                </a:solidFill>
                <a:latin typeface="Prompt"/>
                <a:ea typeface="Prompt"/>
                <a:cs typeface="Prompt"/>
                <a:sym typeface="Prompt"/>
              </a:rPr>
              <a:t> (mod1237)</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253439"/>
        </a:solidFill>
      </p:bgPr>
    </p:bg>
    <p:spTree>
      <p:nvGrpSpPr>
        <p:cNvPr id="1" name=""/>
        <p:cNvGrpSpPr/>
        <p:nvPr/>
      </p:nvGrpSpPr>
      <p:grpSpPr>
        <a:xfrm>
          <a:off x="0" y="0"/>
          <a:ext cx="0" cy="0"/>
          <a:chOff x="0" y="0"/>
          <a:chExt cx="0" cy="0"/>
        </a:xfrm>
      </p:grpSpPr>
      <p:sp>
        <p:nvSpPr>
          <p:cNvPr name="TextBox 2" id="2"/>
          <p:cNvSpPr txBox="true"/>
          <p:nvPr/>
        </p:nvSpPr>
        <p:spPr>
          <a:xfrm rot="0">
            <a:off x="1028700" y="5076825"/>
            <a:ext cx="14828639" cy="5414590"/>
          </a:xfrm>
          <a:prstGeom prst="rect">
            <a:avLst/>
          </a:prstGeom>
        </p:spPr>
        <p:txBody>
          <a:bodyPr anchor="t" rtlCol="false" tIns="0" lIns="0" bIns="0" rIns="0">
            <a:spAutoFit/>
          </a:bodyPr>
          <a:lstStyle/>
          <a:p>
            <a:pPr algn="l">
              <a:lnSpc>
                <a:spcPts val="4300"/>
              </a:lnSpc>
            </a:pPr>
            <a:r>
              <a:rPr lang="en-US" b="true" sz="3049" spc="-45">
                <a:solidFill>
                  <a:srgbClr val="FFFFFF"/>
                </a:solidFill>
                <a:latin typeface="Prompt Bold"/>
                <a:ea typeface="Prompt Bold"/>
                <a:cs typeface="Prompt Bold"/>
                <a:sym typeface="Prompt Bold"/>
              </a:rPr>
              <a:t>3. Distribute Shares</a:t>
            </a:r>
          </a:p>
          <a:p>
            <a:pPr algn="l">
              <a:lnSpc>
                <a:spcPts val="4300"/>
              </a:lnSpc>
            </a:pPr>
            <a:r>
              <a:rPr lang="en-US" sz="3049" spc="-45">
                <a:solidFill>
                  <a:srgbClr val="FFFFFF"/>
                </a:solidFill>
                <a:latin typeface="Prompt"/>
                <a:ea typeface="Prompt"/>
                <a:cs typeface="Prompt"/>
                <a:sym typeface="Prompt"/>
              </a:rPr>
              <a:t> Each of the 6 officers gets one share:</a:t>
            </a:r>
          </a:p>
          <a:p>
            <a:pPr algn="l">
              <a:lnSpc>
                <a:spcPts val="4300"/>
              </a:lnSpc>
            </a:pPr>
            <a:r>
              <a:rPr lang="en-US" sz="3049" spc="-45">
                <a:solidFill>
                  <a:srgbClr val="FFFFFF"/>
                </a:solidFill>
                <a:latin typeface="Prompt"/>
                <a:ea typeface="Prompt"/>
                <a:cs typeface="Prompt"/>
                <a:sym typeface="Prompt"/>
              </a:rPr>
              <a:t>(1, 157), (2, 741), (3, 770), (4, 68), (5, 401), (6, 479)</a:t>
            </a:r>
          </a:p>
          <a:p>
            <a:pPr algn="l">
              <a:lnSpc>
                <a:spcPts val="4300"/>
              </a:lnSpc>
            </a:pPr>
            <a:r>
              <a:rPr lang="en-US" b="true" sz="3049" spc="-45">
                <a:solidFill>
                  <a:srgbClr val="FFFFFF"/>
                </a:solidFill>
                <a:latin typeface="Prompt Bold"/>
                <a:ea typeface="Prompt Bold"/>
                <a:cs typeface="Prompt Bold"/>
                <a:sym typeface="Prompt Bold"/>
              </a:rPr>
              <a:t>4. Reconstruct the Secret </a:t>
            </a:r>
          </a:p>
          <a:p>
            <a:pPr algn="l">
              <a:lnSpc>
                <a:spcPts val="4300"/>
              </a:lnSpc>
            </a:pPr>
            <a:r>
              <a:rPr lang="en-US" sz="3049" spc="-45">
                <a:solidFill>
                  <a:srgbClr val="FFFFFF"/>
                </a:solidFill>
                <a:latin typeface="Prompt"/>
                <a:ea typeface="Prompt"/>
                <a:cs typeface="Prompt"/>
                <a:sym typeface="Prompt"/>
              </a:rPr>
              <a:t>Suppose officers with shares (2, 741), (3, 770), (5, 401), (6, 479)  pool their shares.</a:t>
            </a:r>
          </a:p>
          <a:p>
            <a:pPr algn="l">
              <a:lnSpc>
                <a:spcPts val="4300"/>
              </a:lnSpc>
            </a:pPr>
            <a:r>
              <a:rPr lang="en-US" sz="3049" spc="-45">
                <a:solidFill>
                  <a:srgbClr val="FFFFFF"/>
                </a:solidFill>
                <a:latin typeface="Prompt"/>
                <a:ea typeface="Prompt"/>
                <a:cs typeface="Prompt"/>
                <a:sym typeface="Prompt"/>
              </a:rPr>
              <a:t>Using Lagrange interpolation (all calculations modulo 1613):</a:t>
            </a:r>
          </a:p>
          <a:p>
            <a:pPr algn="l">
              <a:lnSpc>
                <a:spcPts val="4300"/>
              </a:lnSpc>
            </a:pPr>
            <a:r>
              <a:rPr lang="en-US" sz="3049" spc="-45">
                <a:solidFill>
                  <a:srgbClr val="FFFFFF"/>
                </a:solidFill>
                <a:latin typeface="Prompt"/>
                <a:ea typeface="Prompt"/>
                <a:cs typeface="Prompt"/>
                <a:sym typeface="Prompt"/>
              </a:rPr>
              <a:t>When computed with modular inverses, this yields:</a:t>
            </a:r>
          </a:p>
          <a:p>
            <a:pPr algn="l">
              <a:lnSpc>
                <a:spcPts val="4300"/>
              </a:lnSpc>
            </a:pPr>
            <a:r>
              <a:rPr lang="en-US" sz="3049" spc="-45">
                <a:solidFill>
                  <a:srgbClr val="FFFFFF"/>
                </a:solidFill>
                <a:latin typeface="Prompt"/>
                <a:ea typeface="Prompt"/>
                <a:cs typeface="Prompt"/>
                <a:sym typeface="Prompt"/>
              </a:rPr>
              <a:t>S = 987 </a:t>
            </a:r>
          </a:p>
          <a:p>
            <a:pPr algn="l">
              <a:lnSpc>
                <a:spcPts val="4300"/>
              </a:lnSpc>
            </a:pPr>
          </a:p>
          <a:p>
            <a:pPr algn="l">
              <a:lnSpc>
                <a:spcPts val="4300"/>
              </a:lnSpc>
            </a:pPr>
          </a:p>
        </p:txBody>
      </p:sp>
      <p:sp>
        <p:nvSpPr>
          <p:cNvPr name="TextBox 3" id="3"/>
          <p:cNvSpPr txBox="true"/>
          <p:nvPr/>
        </p:nvSpPr>
        <p:spPr>
          <a:xfrm rot="0">
            <a:off x="806545" y="639128"/>
            <a:ext cx="4336018" cy="788670"/>
          </a:xfrm>
          <a:prstGeom prst="rect">
            <a:avLst/>
          </a:prstGeom>
        </p:spPr>
        <p:txBody>
          <a:bodyPr anchor="t" rtlCol="false" tIns="0" lIns="0" bIns="0" rIns="0">
            <a:spAutoFit/>
          </a:bodyPr>
          <a:lstStyle/>
          <a:p>
            <a:pPr algn="l">
              <a:lnSpc>
                <a:spcPts val="3104"/>
              </a:lnSpc>
              <a:spcBef>
                <a:spcPct val="0"/>
              </a:spcBef>
            </a:pPr>
            <a:r>
              <a:rPr lang="en-US" sz="2700" spc="-40">
                <a:solidFill>
                  <a:srgbClr val="FFFFFF"/>
                </a:solidFill>
                <a:latin typeface="Prompt"/>
                <a:ea typeface="Prompt"/>
                <a:cs typeface="Prompt"/>
                <a:sym typeface="Prompt"/>
              </a:rPr>
              <a:t>2. Compute Each Share</a:t>
            </a:r>
          </a:p>
          <a:p>
            <a:pPr algn="l">
              <a:lnSpc>
                <a:spcPts val="3104"/>
              </a:lnSpc>
              <a:spcBef>
                <a:spcPct val="0"/>
              </a:spcBef>
            </a:pPr>
            <a:r>
              <a:rPr lang="en-US" sz="2700" spc="-40">
                <a:solidFill>
                  <a:srgbClr val="FFFFFF"/>
                </a:solidFill>
                <a:latin typeface="Prompt"/>
                <a:ea typeface="Prompt"/>
                <a:cs typeface="Prompt"/>
                <a:sym typeface="Prompt"/>
              </a:rPr>
              <a:t>We compute for x = 1 to 6.</a:t>
            </a:r>
          </a:p>
        </p:txBody>
      </p:sp>
      <p:graphicFrame>
        <p:nvGraphicFramePr>
          <p:cNvPr name="Object 4" id="4"/>
          <p:cNvGraphicFramePr/>
          <p:nvPr/>
        </p:nvGraphicFramePr>
        <p:xfrm>
          <a:off x="1642515" y="1909340"/>
          <a:ext cx="5029200" cy="2933700"/>
        </p:xfrm>
        <a:graphic>
          <a:graphicData uri="http://schemas.openxmlformats.org/presentationml/2006/ole">
            <p:oleObj imgW="6032500" imgH="39370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253439"/>
        </a:solidFill>
      </p:bgPr>
    </p:bg>
    <p:spTree>
      <p:nvGrpSpPr>
        <p:cNvPr id="1" name=""/>
        <p:cNvGrpSpPr/>
        <p:nvPr/>
      </p:nvGrpSpPr>
      <p:grpSpPr>
        <a:xfrm>
          <a:off x="0" y="0"/>
          <a:ext cx="0" cy="0"/>
          <a:chOff x="0" y="0"/>
          <a:chExt cx="0" cy="0"/>
        </a:xfrm>
      </p:grpSpPr>
      <p:sp>
        <p:nvSpPr>
          <p:cNvPr name="Freeform 2" id="2"/>
          <p:cNvSpPr/>
          <p:nvPr/>
        </p:nvSpPr>
        <p:spPr>
          <a:xfrm flipH="false" flipV="false" rot="0">
            <a:off x="2487132" y="2623628"/>
            <a:ext cx="13313735" cy="5325494"/>
          </a:xfrm>
          <a:custGeom>
            <a:avLst/>
            <a:gdLst/>
            <a:ahLst/>
            <a:cxnLst/>
            <a:rect r="r" b="b" t="t" l="l"/>
            <a:pathLst>
              <a:path h="5325494" w="13313735">
                <a:moveTo>
                  <a:pt x="0" y="0"/>
                </a:moveTo>
                <a:lnTo>
                  <a:pt x="13313736" y="0"/>
                </a:lnTo>
                <a:lnTo>
                  <a:pt x="13313736" y="5325494"/>
                </a:lnTo>
                <a:lnTo>
                  <a:pt x="0" y="5325494"/>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992901" y="2894680"/>
            <a:ext cx="14302199" cy="4497640"/>
            <a:chOff x="0" y="0"/>
            <a:chExt cx="19069598" cy="5996853"/>
          </a:xfrm>
        </p:grpSpPr>
        <p:sp>
          <p:nvSpPr>
            <p:cNvPr name="TextBox 4" id="4"/>
            <p:cNvSpPr txBox="true"/>
            <p:nvPr/>
          </p:nvSpPr>
          <p:spPr>
            <a:xfrm rot="0">
              <a:off x="0" y="257175"/>
              <a:ext cx="19069598" cy="4647564"/>
            </a:xfrm>
            <a:prstGeom prst="rect">
              <a:avLst/>
            </a:prstGeom>
          </p:spPr>
          <p:txBody>
            <a:bodyPr anchor="t" rtlCol="false" tIns="0" lIns="0" bIns="0" rIns="0">
              <a:spAutoFit/>
            </a:bodyPr>
            <a:lstStyle/>
            <a:p>
              <a:pPr algn="ctr" marL="0" indent="0" lvl="0">
                <a:lnSpc>
                  <a:spcPts val="13199"/>
                </a:lnSpc>
              </a:pPr>
              <a:r>
                <a:rPr lang="en-US" b="true" sz="13199">
                  <a:solidFill>
                    <a:srgbClr val="FFFFFF"/>
                  </a:solidFill>
                  <a:latin typeface="Open Sans Bold"/>
                  <a:ea typeface="Open Sans Bold"/>
                  <a:cs typeface="Open Sans Bold"/>
                  <a:sym typeface="Open Sans Bold"/>
                </a:rPr>
                <a:t>security challenges</a:t>
              </a:r>
            </a:p>
          </p:txBody>
        </p:sp>
        <p:sp>
          <p:nvSpPr>
            <p:cNvPr name="TextBox 5" id="5"/>
            <p:cNvSpPr txBox="true"/>
            <p:nvPr/>
          </p:nvSpPr>
          <p:spPr>
            <a:xfrm rot="0">
              <a:off x="0" y="5138333"/>
              <a:ext cx="19069598" cy="858520"/>
            </a:xfrm>
            <a:prstGeom prst="rect">
              <a:avLst/>
            </a:prstGeom>
          </p:spPr>
          <p:txBody>
            <a:bodyPr anchor="t" rtlCol="false" tIns="0" lIns="0" bIns="0" rIns="0">
              <a:spAutoFit/>
            </a:bodyPr>
            <a:lstStyle/>
            <a:p>
              <a:pPr algn="ctr" marL="0" indent="0" lvl="0">
                <a:lnSpc>
                  <a:spcPts val="5459"/>
                </a:lnSpc>
                <a:spcBef>
                  <a:spcPct val="0"/>
                </a:spcBef>
              </a:pPr>
            </a:p>
          </p:txBody>
        </p:sp>
      </p:grpSp>
    </p:spTree>
  </p:cSld>
  <p:clrMapOvr>
    <a:masterClrMapping/>
  </p:clrMapOvr>
</p:sld>
</file>

<file path=ppt/slides/slide22.xml><?xml version="1.0" encoding="utf-8"?>
<p:sld xmlns:p="http://schemas.openxmlformats.org/presentationml/2006/main" xmlns:a="http://schemas.openxmlformats.org/drawingml/2006/main">
  <p:cSld>
    <p:bg>
      <p:bgPr>
        <a:solidFill>
          <a:srgbClr val="253439"/>
        </a:solidFill>
      </p:bgPr>
    </p:bg>
    <p:spTree>
      <p:nvGrpSpPr>
        <p:cNvPr id="1" name=""/>
        <p:cNvGrpSpPr/>
        <p:nvPr/>
      </p:nvGrpSpPr>
      <p:grpSpPr>
        <a:xfrm>
          <a:off x="0" y="0"/>
          <a:ext cx="0" cy="0"/>
          <a:chOff x="0" y="0"/>
          <a:chExt cx="0" cy="0"/>
        </a:xfrm>
      </p:grpSpPr>
      <p:sp>
        <p:nvSpPr>
          <p:cNvPr name="TextBox 2" id="2"/>
          <p:cNvSpPr txBox="true"/>
          <p:nvPr/>
        </p:nvSpPr>
        <p:spPr>
          <a:xfrm rot="0">
            <a:off x="263497" y="498544"/>
            <a:ext cx="17225736" cy="3783645"/>
          </a:xfrm>
          <a:prstGeom prst="rect">
            <a:avLst/>
          </a:prstGeom>
        </p:spPr>
        <p:txBody>
          <a:bodyPr anchor="t" rtlCol="false" tIns="0" lIns="0" bIns="0" rIns="0">
            <a:spAutoFit/>
          </a:bodyPr>
          <a:lstStyle/>
          <a:p>
            <a:pPr algn="l">
              <a:lnSpc>
                <a:spcPts val="4372"/>
              </a:lnSpc>
            </a:pPr>
            <a:r>
              <a:rPr lang="en-US" sz="2633">
                <a:solidFill>
                  <a:srgbClr val="2E83D1"/>
                </a:solidFill>
                <a:latin typeface="Prompt"/>
                <a:ea typeface="Prompt"/>
                <a:cs typeface="Prompt"/>
                <a:sym typeface="Prompt"/>
              </a:rPr>
              <a:t>Authentication Bypass</a:t>
            </a:r>
          </a:p>
          <a:p>
            <a:pPr algn="l">
              <a:lnSpc>
                <a:spcPts val="4372"/>
              </a:lnSpc>
            </a:pPr>
            <a:r>
              <a:rPr lang="en-US" sz="2633">
                <a:solidFill>
                  <a:srgbClr val="FFFFFF"/>
                </a:solidFill>
                <a:latin typeface="Prompt"/>
                <a:ea typeface="Prompt"/>
                <a:cs typeface="Prompt"/>
                <a:sym typeface="Prompt"/>
              </a:rPr>
              <a:t>Goal: Impersonate the legitimate owner to disable, alter, or trigger the switch.</a:t>
            </a:r>
          </a:p>
          <a:p>
            <a:pPr algn="l">
              <a:lnSpc>
                <a:spcPts val="4372"/>
              </a:lnSpc>
            </a:pPr>
            <a:r>
              <a:rPr lang="en-US" sz="2633">
                <a:solidFill>
                  <a:srgbClr val="FFFFFF"/>
                </a:solidFill>
                <a:latin typeface="Prompt"/>
                <a:ea typeface="Prompt"/>
                <a:cs typeface="Prompt"/>
                <a:sym typeface="Prompt"/>
              </a:rPr>
              <a:t>Methods:</a:t>
            </a:r>
          </a:p>
          <a:p>
            <a:pPr algn="l" marL="568651" indent="-284325" lvl="1">
              <a:lnSpc>
                <a:spcPts val="4372"/>
              </a:lnSpc>
              <a:buFont typeface="Arial"/>
              <a:buChar char="•"/>
            </a:pPr>
            <a:r>
              <a:rPr lang="en-US" sz="2633">
                <a:solidFill>
                  <a:srgbClr val="FFFFFF"/>
                </a:solidFill>
                <a:latin typeface="Prompt"/>
                <a:ea typeface="Prompt"/>
                <a:cs typeface="Prompt"/>
                <a:sym typeface="Prompt"/>
              </a:rPr>
              <a:t>Password cracking, phishing.</a:t>
            </a:r>
          </a:p>
          <a:p>
            <a:pPr algn="l" marL="568651" indent="-284325" lvl="1">
              <a:lnSpc>
                <a:spcPts val="4372"/>
              </a:lnSpc>
              <a:buFont typeface="Arial"/>
              <a:buChar char="•"/>
            </a:pPr>
            <a:r>
              <a:rPr lang="en-US" sz="2633">
                <a:solidFill>
                  <a:srgbClr val="FFFFFF"/>
                </a:solidFill>
                <a:latin typeface="Prompt"/>
                <a:ea typeface="Prompt"/>
                <a:cs typeface="Prompt"/>
                <a:sym typeface="Prompt"/>
              </a:rPr>
              <a:t>Stealing private key.</a:t>
            </a:r>
          </a:p>
          <a:p>
            <a:pPr algn="l" marL="568651" indent="-284325" lvl="1">
              <a:lnSpc>
                <a:spcPts val="4372"/>
              </a:lnSpc>
              <a:buFont typeface="Arial"/>
              <a:buChar char="•"/>
            </a:pPr>
            <a:r>
              <a:rPr lang="en-US" sz="2633">
                <a:solidFill>
                  <a:srgbClr val="FFFFFF"/>
                </a:solidFill>
                <a:latin typeface="Prompt"/>
                <a:ea typeface="Prompt"/>
                <a:cs typeface="Prompt"/>
                <a:sym typeface="Prompt"/>
              </a:rPr>
              <a:t>Deepfake biometrics (e.g., spoofing a face or fingerprint).</a:t>
            </a:r>
          </a:p>
          <a:p>
            <a:pPr algn="l">
              <a:lnSpc>
                <a:spcPts val="4372"/>
              </a:lnSpc>
            </a:pPr>
            <a:r>
              <a:rPr lang="en-US" sz="2633">
                <a:solidFill>
                  <a:srgbClr val="FFFFFF"/>
                </a:solidFill>
                <a:latin typeface="Prompt"/>
                <a:ea typeface="Prompt"/>
                <a:cs typeface="Prompt"/>
                <a:sym typeface="Prompt"/>
              </a:rPr>
              <a:t>Example: Attacker sends a fake “I’m alive” check-in using stolen login details.</a:t>
            </a:r>
          </a:p>
        </p:txBody>
      </p:sp>
      <p:sp>
        <p:nvSpPr>
          <p:cNvPr name="TextBox 3" id="3"/>
          <p:cNvSpPr txBox="true"/>
          <p:nvPr/>
        </p:nvSpPr>
        <p:spPr>
          <a:xfrm rot="0">
            <a:off x="263497" y="4702254"/>
            <a:ext cx="18024503" cy="4493754"/>
          </a:xfrm>
          <a:prstGeom prst="rect">
            <a:avLst/>
          </a:prstGeom>
        </p:spPr>
        <p:txBody>
          <a:bodyPr anchor="t" rtlCol="false" tIns="0" lIns="0" bIns="0" rIns="0">
            <a:spAutoFit/>
          </a:bodyPr>
          <a:lstStyle/>
          <a:p>
            <a:pPr algn="l">
              <a:lnSpc>
                <a:spcPts val="3580"/>
              </a:lnSpc>
            </a:pPr>
            <a:r>
              <a:rPr lang="en-US" sz="2557" spc="66">
                <a:solidFill>
                  <a:srgbClr val="3DB6C3"/>
                </a:solidFill>
                <a:latin typeface="Prompt"/>
                <a:ea typeface="Prompt"/>
                <a:cs typeface="Prompt"/>
                <a:sym typeface="Prompt"/>
              </a:rPr>
              <a:t>Preemptive Disablement</a:t>
            </a:r>
          </a:p>
          <a:p>
            <a:pPr algn="l">
              <a:lnSpc>
                <a:spcPts val="3580"/>
              </a:lnSpc>
            </a:pPr>
            <a:r>
              <a:rPr lang="en-US" sz="2557" spc="66">
                <a:solidFill>
                  <a:srgbClr val="FFFFFF"/>
                </a:solidFill>
                <a:latin typeface="Prompt"/>
                <a:ea typeface="Prompt"/>
                <a:cs typeface="Prompt"/>
                <a:sym typeface="Prompt"/>
              </a:rPr>
              <a:t>Goal: Prevent the switch from triggering.</a:t>
            </a:r>
          </a:p>
          <a:p>
            <a:pPr algn="l">
              <a:lnSpc>
                <a:spcPts val="3580"/>
              </a:lnSpc>
            </a:pPr>
            <a:r>
              <a:rPr lang="en-US" sz="2557" spc="66">
                <a:solidFill>
                  <a:srgbClr val="FFFFFF"/>
                </a:solidFill>
                <a:latin typeface="Prompt"/>
                <a:ea typeface="Prompt"/>
                <a:cs typeface="Prompt"/>
                <a:sym typeface="Prompt"/>
              </a:rPr>
              <a:t>Methods:</a:t>
            </a:r>
          </a:p>
          <a:p>
            <a:pPr algn="l" marL="552157" indent="-276079" lvl="1">
              <a:lnSpc>
                <a:spcPts val="3580"/>
              </a:lnSpc>
              <a:buFont typeface="Arial"/>
              <a:buChar char="•"/>
            </a:pPr>
            <a:r>
              <a:rPr lang="en-US" sz="2557" spc="66">
                <a:solidFill>
                  <a:srgbClr val="FFFFFF"/>
                </a:solidFill>
                <a:latin typeface="Prompt"/>
                <a:ea typeface="Prompt"/>
                <a:cs typeface="Prompt"/>
                <a:sym typeface="Prompt"/>
              </a:rPr>
              <a:t>Server compromise → attacker gains access to the host system and deletes or alters the trigger logic.</a:t>
            </a:r>
          </a:p>
          <a:p>
            <a:pPr algn="l" marL="552157" indent="-276079" lvl="1">
              <a:lnSpc>
                <a:spcPts val="3580"/>
              </a:lnSpc>
              <a:buFont typeface="Arial"/>
              <a:buChar char="•"/>
            </a:pPr>
            <a:r>
              <a:rPr lang="en-US" sz="2557" spc="66">
                <a:solidFill>
                  <a:srgbClr val="FFFFFF"/>
                </a:solidFill>
                <a:latin typeface="Prompt"/>
                <a:ea typeface="Prompt"/>
                <a:cs typeface="Prompt"/>
                <a:sym typeface="Prompt"/>
              </a:rPr>
              <a:t>Command &amp; control disruption → cutting internet access, taking down the hosting service, or jamming signals.</a:t>
            </a:r>
          </a:p>
          <a:p>
            <a:pPr algn="l" marL="552157" indent="-276079" lvl="1">
              <a:lnSpc>
                <a:spcPts val="3580"/>
              </a:lnSpc>
              <a:buFont typeface="Arial"/>
              <a:buChar char="•"/>
            </a:pPr>
            <a:r>
              <a:rPr lang="en-US" sz="2557" spc="66">
                <a:solidFill>
                  <a:srgbClr val="FFFFFF"/>
                </a:solidFill>
                <a:latin typeface="Prompt"/>
                <a:ea typeface="Prompt"/>
                <a:cs typeface="Prompt"/>
                <a:sym typeface="Prompt"/>
              </a:rPr>
              <a:t>Clock/timestamp tampering → altering system time so the switch never thinks the trigger time has arrived.</a:t>
            </a:r>
          </a:p>
          <a:p>
            <a:pPr algn="l">
              <a:lnSpc>
                <a:spcPts val="3580"/>
              </a:lnSpc>
            </a:pPr>
            <a:r>
              <a:rPr lang="en-US" sz="2557" spc="66">
                <a:solidFill>
                  <a:srgbClr val="FFFFFF"/>
                </a:solidFill>
                <a:latin typeface="Prompt"/>
                <a:ea typeface="Prompt"/>
                <a:cs typeface="Prompt"/>
                <a:sym typeface="Prompt"/>
              </a:rPr>
              <a:t>Example: An adversary hacks into the DMS server and resets the “last check-in” timestamp repeatedly to keep it active.</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253439"/>
        </a:solidFill>
      </p:bgPr>
    </p:bg>
    <p:spTree>
      <p:nvGrpSpPr>
        <p:cNvPr id="1" name=""/>
        <p:cNvGrpSpPr/>
        <p:nvPr/>
      </p:nvGrpSpPr>
      <p:grpSpPr>
        <a:xfrm>
          <a:off x="0" y="0"/>
          <a:ext cx="0" cy="0"/>
          <a:chOff x="0" y="0"/>
          <a:chExt cx="0" cy="0"/>
        </a:xfrm>
      </p:grpSpPr>
      <p:sp>
        <p:nvSpPr>
          <p:cNvPr name="TextBox 2" id="2"/>
          <p:cNvSpPr txBox="true"/>
          <p:nvPr/>
        </p:nvSpPr>
        <p:spPr>
          <a:xfrm rot="0">
            <a:off x="9567705" y="4532432"/>
            <a:ext cx="7691595" cy="1981200"/>
          </a:xfrm>
          <a:prstGeom prst="rect">
            <a:avLst/>
          </a:prstGeom>
        </p:spPr>
        <p:txBody>
          <a:bodyPr anchor="t" rtlCol="false" tIns="0" lIns="0" bIns="0" rIns="0">
            <a:spAutoFit/>
          </a:bodyPr>
          <a:lstStyle/>
          <a:p>
            <a:pPr algn="l" marL="0" indent="0" lvl="0">
              <a:lnSpc>
                <a:spcPts val="7845"/>
              </a:lnSpc>
            </a:pPr>
            <a:r>
              <a:rPr lang="en-US" b="true" sz="6537">
                <a:solidFill>
                  <a:srgbClr val="FFFFFF"/>
                </a:solidFill>
                <a:latin typeface="Open Sans Bold"/>
                <a:ea typeface="Open Sans Bold"/>
                <a:cs typeface="Open Sans Bold"/>
                <a:sym typeface="Open Sans Bold"/>
              </a:rPr>
              <a:t>authentication and access control</a:t>
            </a:r>
          </a:p>
        </p:txBody>
      </p:sp>
      <p:sp>
        <p:nvSpPr>
          <p:cNvPr name="AutoShape 3" id="3"/>
          <p:cNvSpPr/>
          <p:nvPr/>
        </p:nvSpPr>
        <p:spPr>
          <a:xfrm rot="0">
            <a:off x="9567705" y="3392368"/>
            <a:ext cx="1104900" cy="57150"/>
          </a:xfrm>
          <a:prstGeom prst="rect">
            <a:avLst/>
          </a:prstGeom>
          <a:solidFill>
            <a:srgbClr val="80F4FD"/>
          </a:solidFill>
        </p:spPr>
      </p:sp>
      <p:grpSp>
        <p:nvGrpSpPr>
          <p:cNvPr name="Group 4" id="4"/>
          <p:cNvGrpSpPr/>
          <p:nvPr/>
        </p:nvGrpSpPr>
        <p:grpSpPr>
          <a:xfrm rot="0">
            <a:off x="0" y="0"/>
            <a:ext cx="7855715" cy="10287000"/>
            <a:chOff x="0" y="0"/>
            <a:chExt cx="812800" cy="1064356"/>
          </a:xfrm>
        </p:grpSpPr>
        <p:sp>
          <p:nvSpPr>
            <p:cNvPr name="Freeform 5" id="5"/>
            <p:cNvSpPr/>
            <p:nvPr/>
          </p:nvSpPr>
          <p:spPr>
            <a:xfrm flipH="false" flipV="false" rot="0">
              <a:off x="0" y="0"/>
              <a:ext cx="812800" cy="1064356"/>
            </a:xfrm>
            <a:custGeom>
              <a:avLst/>
              <a:gdLst/>
              <a:ahLst/>
              <a:cxnLst/>
              <a:rect r="r" b="b" t="t" l="l"/>
              <a:pathLst>
                <a:path h="1064356" w="812800">
                  <a:moveTo>
                    <a:pt x="0" y="0"/>
                  </a:moveTo>
                  <a:lnTo>
                    <a:pt x="812800" y="0"/>
                  </a:lnTo>
                  <a:lnTo>
                    <a:pt x="812800" y="1064356"/>
                  </a:lnTo>
                  <a:lnTo>
                    <a:pt x="0" y="1064356"/>
                  </a:lnTo>
                  <a:close/>
                </a:path>
              </a:pathLst>
            </a:custGeom>
            <a:blipFill>
              <a:blip r:embed="rId2"/>
              <a:stretch>
                <a:fillRect l="-54342" t="0" r="-54342" b="0"/>
              </a:stretch>
            </a:blipFill>
          </p:spPr>
        </p:sp>
      </p:grpSp>
    </p:spTree>
  </p:cSld>
  <p:clrMapOvr>
    <a:masterClrMapping/>
  </p:clrMapOvr>
</p:sld>
</file>

<file path=ppt/slides/slide24.xml><?xml version="1.0" encoding="utf-8"?>
<p:sld xmlns:p="http://schemas.openxmlformats.org/presentationml/2006/main" xmlns:a="http://schemas.openxmlformats.org/drawingml/2006/main">
  <p:cSld>
    <p:bg>
      <p:bgPr>
        <a:solidFill>
          <a:srgbClr val="253439"/>
        </a:solidFill>
      </p:bgPr>
    </p:bg>
    <p:spTree>
      <p:nvGrpSpPr>
        <p:cNvPr id="1" name=""/>
        <p:cNvGrpSpPr/>
        <p:nvPr/>
      </p:nvGrpSpPr>
      <p:grpSpPr>
        <a:xfrm>
          <a:off x="0" y="0"/>
          <a:ext cx="0" cy="0"/>
          <a:chOff x="0" y="0"/>
          <a:chExt cx="0" cy="0"/>
        </a:xfrm>
      </p:grpSpPr>
      <p:sp>
        <p:nvSpPr>
          <p:cNvPr name="TextBox 2" id="2"/>
          <p:cNvSpPr txBox="true"/>
          <p:nvPr/>
        </p:nvSpPr>
        <p:spPr>
          <a:xfrm rot="0">
            <a:off x="1028700" y="1033579"/>
            <a:ext cx="2350294" cy="398145"/>
          </a:xfrm>
          <a:prstGeom prst="rect">
            <a:avLst/>
          </a:prstGeom>
        </p:spPr>
        <p:txBody>
          <a:bodyPr anchor="t" rtlCol="false" tIns="0" lIns="0" bIns="0" rIns="0">
            <a:spAutoFit/>
          </a:bodyPr>
          <a:lstStyle/>
          <a:p>
            <a:pPr algn="ctr">
              <a:lnSpc>
                <a:spcPts val="3104"/>
              </a:lnSpc>
              <a:spcBef>
                <a:spcPct val="0"/>
              </a:spcBef>
            </a:pPr>
            <a:r>
              <a:rPr lang="en-US" sz="2700" spc="-40">
                <a:solidFill>
                  <a:srgbClr val="2E83D1"/>
                </a:solidFill>
                <a:latin typeface="Prompt"/>
                <a:ea typeface="Prompt"/>
                <a:cs typeface="Prompt"/>
                <a:sym typeface="Prompt"/>
              </a:rPr>
              <a:t>Authentication</a:t>
            </a:r>
          </a:p>
        </p:txBody>
      </p:sp>
      <p:sp>
        <p:nvSpPr>
          <p:cNvPr name="TextBox 3" id="3"/>
          <p:cNvSpPr txBox="true"/>
          <p:nvPr/>
        </p:nvSpPr>
        <p:spPr>
          <a:xfrm rot="0">
            <a:off x="1028700" y="1841299"/>
            <a:ext cx="15431929" cy="398145"/>
          </a:xfrm>
          <a:prstGeom prst="rect">
            <a:avLst/>
          </a:prstGeom>
        </p:spPr>
        <p:txBody>
          <a:bodyPr anchor="t" rtlCol="false" tIns="0" lIns="0" bIns="0" rIns="0">
            <a:spAutoFit/>
          </a:bodyPr>
          <a:lstStyle/>
          <a:p>
            <a:pPr algn="l">
              <a:lnSpc>
                <a:spcPts val="3104"/>
              </a:lnSpc>
              <a:spcBef>
                <a:spcPct val="0"/>
              </a:spcBef>
            </a:pPr>
            <a:r>
              <a:rPr lang="en-US" sz="2700" spc="-40">
                <a:solidFill>
                  <a:srgbClr val="F6F4F1"/>
                </a:solidFill>
                <a:latin typeface="Prompt"/>
                <a:ea typeface="Prompt"/>
                <a:cs typeface="Prompt"/>
                <a:sym typeface="Prompt"/>
              </a:rPr>
              <a:t>Authentication ensures that only legitimate users can activate, configure, or disable the switch.</a:t>
            </a:r>
          </a:p>
        </p:txBody>
      </p:sp>
      <p:sp>
        <p:nvSpPr>
          <p:cNvPr name="TextBox 4" id="4"/>
          <p:cNvSpPr txBox="true"/>
          <p:nvPr/>
        </p:nvSpPr>
        <p:spPr>
          <a:xfrm rot="0">
            <a:off x="1028700" y="2472581"/>
            <a:ext cx="5450443" cy="2269236"/>
          </a:xfrm>
          <a:prstGeom prst="rect">
            <a:avLst/>
          </a:prstGeom>
        </p:spPr>
        <p:txBody>
          <a:bodyPr anchor="t" rtlCol="false" tIns="0" lIns="0" bIns="0" rIns="0">
            <a:spAutoFit/>
          </a:bodyPr>
          <a:lstStyle/>
          <a:p>
            <a:pPr algn="l">
              <a:lnSpc>
                <a:spcPts val="3672"/>
              </a:lnSpc>
            </a:pPr>
            <a:r>
              <a:rPr lang="en-US" sz="2700" spc="-40">
                <a:solidFill>
                  <a:srgbClr val="FFFFFF"/>
                </a:solidFill>
                <a:latin typeface="Prompt"/>
                <a:ea typeface="Prompt"/>
                <a:cs typeface="Prompt"/>
                <a:sym typeface="Prompt"/>
              </a:rPr>
              <a:t>Common authentication methods:</a:t>
            </a:r>
          </a:p>
          <a:p>
            <a:pPr algn="l" marL="582930" indent="-291465" lvl="1">
              <a:lnSpc>
                <a:spcPts val="3672"/>
              </a:lnSpc>
              <a:buFont typeface="Arial"/>
              <a:buChar char="•"/>
            </a:pPr>
            <a:r>
              <a:rPr lang="en-US" sz="2700" spc="-40">
                <a:solidFill>
                  <a:srgbClr val="FFFFFF"/>
                </a:solidFill>
                <a:latin typeface="Prompt"/>
                <a:ea typeface="Prompt"/>
                <a:cs typeface="Prompt"/>
                <a:sym typeface="Prompt"/>
              </a:rPr>
              <a:t>Password-based login </a:t>
            </a:r>
          </a:p>
          <a:p>
            <a:pPr algn="l" marL="582930" indent="-291465" lvl="1">
              <a:lnSpc>
                <a:spcPts val="3672"/>
              </a:lnSpc>
              <a:buFont typeface="Arial"/>
              <a:buChar char="•"/>
            </a:pPr>
            <a:r>
              <a:rPr lang="en-US" sz="2700" spc="-40">
                <a:solidFill>
                  <a:srgbClr val="FFFFFF"/>
                </a:solidFill>
                <a:latin typeface="Prompt"/>
                <a:ea typeface="Prompt"/>
                <a:cs typeface="Prompt"/>
                <a:sym typeface="Prompt"/>
              </a:rPr>
              <a:t>Biometric verification </a:t>
            </a:r>
          </a:p>
          <a:p>
            <a:pPr algn="l" marL="582930" indent="-291465" lvl="1">
              <a:lnSpc>
                <a:spcPts val="3672"/>
              </a:lnSpc>
              <a:buFont typeface="Arial"/>
              <a:buChar char="•"/>
            </a:pPr>
            <a:r>
              <a:rPr lang="en-US" sz="2700" spc="-40">
                <a:solidFill>
                  <a:srgbClr val="FFFFFF"/>
                </a:solidFill>
                <a:latin typeface="Prompt"/>
                <a:ea typeface="Prompt"/>
                <a:cs typeface="Prompt"/>
                <a:sym typeface="Prompt"/>
              </a:rPr>
              <a:t>Two-Factor Authentication</a:t>
            </a:r>
          </a:p>
          <a:p>
            <a:pPr algn="l" marL="582930" indent="-291465" lvl="1">
              <a:lnSpc>
                <a:spcPts val="3672"/>
              </a:lnSpc>
              <a:buFont typeface="Arial"/>
              <a:buChar char="•"/>
            </a:pPr>
            <a:r>
              <a:rPr lang="en-US" sz="2700" spc="-40">
                <a:solidFill>
                  <a:srgbClr val="FFFFFF"/>
                </a:solidFill>
                <a:latin typeface="Prompt"/>
                <a:ea typeface="Prompt"/>
                <a:cs typeface="Prompt"/>
                <a:sym typeface="Prompt"/>
              </a:rPr>
              <a:t>Multi-factor authentication </a:t>
            </a:r>
          </a:p>
        </p:txBody>
      </p:sp>
      <p:sp>
        <p:nvSpPr>
          <p:cNvPr name="TextBox 5" id="5"/>
          <p:cNvSpPr txBox="true"/>
          <p:nvPr/>
        </p:nvSpPr>
        <p:spPr>
          <a:xfrm rot="0">
            <a:off x="1028700" y="5486678"/>
            <a:ext cx="14021277" cy="2741295"/>
          </a:xfrm>
          <a:prstGeom prst="rect">
            <a:avLst/>
          </a:prstGeom>
        </p:spPr>
        <p:txBody>
          <a:bodyPr anchor="t" rtlCol="false" tIns="0" lIns="0" bIns="0" rIns="0">
            <a:spAutoFit/>
          </a:bodyPr>
          <a:lstStyle/>
          <a:p>
            <a:pPr algn="l">
              <a:lnSpc>
                <a:spcPts val="3104"/>
              </a:lnSpc>
              <a:spcBef>
                <a:spcPct val="0"/>
              </a:spcBef>
            </a:pPr>
            <a:r>
              <a:rPr lang="en-US" sz="2700" spc="-40">
                <a:solidFill>
                  <a:srgbClr val="2E83D1"/>
                </a:solidFill>
                <a:latin typeface="Prompt"/>
                <a:ea typeface="Prompt"/>
                <a:cs typeface="Prompt"/>
                <a:sym typeface="Prompt"/>
              </a:rPr>
              <a:t>Access Control</a:t>
            </a:r>
          </a:p>
          <a:p>
            <a:pPr algn="l">
              <a:lnSpc>
                <a:spcPts val="3104"/>
              </a:lnSpc>
              <a:spcBef>
                <a:spcPct val="0"/>
              </a:spcBef>
            </a:pPr>
          </a:p>
          <a:p>
            <a:pPr algn="l">
              <a:lnSpc>
                <a:spcPts val="3104"/>
              </a:lnSpc>
              <a:spcBef>
                <a:spcPct val="0"/>
              </a:spcBef>
            </a:pPr>
            <a:r>
              <a:rPr lang="en-US" sz="2700" spc="-40">
                <a:solidFill>
                  <a:srgbClr val="FFFFFF"/>
                </a:solidFill>
                <a:latin typeface="Prompt"/>
                <a:ea typeface="Prompt"/>
                <a:cs typeface="Prompt"/>
                <a:sym typeface="Prompt"/>
              </a:rPr>
              <a:t>Access control determines who has what level of permission:</a:t>
            </a:r>
          </a:p>
          <a:p>
            <a:pPr algn="l">
              <a:lnSpc>
                <a:spcPts val="3104"/>
              </a:lnSpc>
              <a:spcBef>
                <a:spcPct val="0"/>
              </a:spcBef>
            </a:pPr>
            <a:r>
              <a:rPr lang="en-US" sz="2700" spc="-40">
                <a:solidFill>
                  <a:srgbClr val="FFFFFF"/>
                </a:solidFill>
                <a:latin typeface="Prompt"/>
                <a:ea typeface="Prompt"/>
                <a:cs typeface="Prompt"/>
                <a:sym typeface="Prompt"/>
              </a:rPr>
              <a:t> </a:t>
            </a:r>
          </a:p>
          <a:p>
            <a:pPr algn="l" marL="582930" indent="-291465" lvl="1">
              <a:lnSpc>
                <a:spcPts val="3104"/>
              </a:lnSpc>
              <a:buFont typeface="Arial"/>
              <a:buChar char="•"/>
            </a:pPr>
            <a:r>
              <a:rPr lang="en-US" sz="2700" spc="-40">
                <a:solidFill>
                  <a:srgbClr val="FFFFFF"/>
                </a:solidFill>
                <a:latin typeface="Prompt"/>
                <a:ea typeface="Prompt"/>
                <a:cs typeface="Prompt"/>
                <a:sym typeface="Prompt"/>
              </a:rPr>
              <a:t>Role-Based Access Control – Only authorized users can modify DMS settings</a:t>
            </a:r>
          </a:p>
          <a:p>
            <a:pPr algn="l" marL="582930" indent="-291465" lvl="1">
              <a:lnSpc>
                <a:spcPts val="3104"/>
              </a:lnSpc>
              <a:buFont typeface="Arial"/>
              <a:buChar char="•"/>
            </a:pPr>
            <a:r>
              <a:rPr lang="en-US" sz="2700" spc="-40">
                <a:solidFill>
                  <a:srgbClr val="FFFFFF"/>
                </a:solidFill>
                <a:latin typeface="Prompt"/>
                <a:ea typeface="Prompt"/>
                <a:cs typeface="Prompt"/>
                <a:sym typeface="Prompt"/>
              </a:rPr>
              <a:t>Time based access - The system checks for user interaction at scheduled intervals.</a:t>
            </a:r>
          </a:p>
          <a:p>
            <a:pPr algn="l">
              <a:lnSpc>
                <a:spcPts val="3104"/>
              </a:lnSpc>
              <a:spcBef>
                <a:spcPct val="0"/>
              </a:spcBef>
            </a:pPr>
            <a:r>
              <a:rPr lang="en-US" sz="2700" spc="-40">
                <a:solidFill>
                  <a:srgbClr val="FFFFFF"/>
                </a:solidFill>
                <a:latin typeface="Prompt"/>
                <a:ea typeface="Prompt"/>
                <a:cs typeface="Prompt"/>
                <a:sym typeface="Prompt"/>
              </a:rPr>
              <a:t> </a:t>
            </a:r>
          </a:p>
        </p:txBody>
      </p:sp>
    </p:spTree>
  </p:cSld>
  <p:clrMapOvr>
    <a:masterClrMapping/>
  </p:clrMapOvr>
</p:sld>
</file>

<file path=ppt/slides/slide25.xml><?xml version="1.0" encoding="utf-8"?>
<p:sld xmlns:p="http://schemas.openxmlformats.org/presentationml/2006/main" xmlns:a="http://schemas.openxmlformats.org/drawingml/2006/main">
  <p:cSld>
    <p:bg>
      <p:bgPr>
        <a:solidFill>
          <a:srgbClr val="253439"/>
        </a:solidFill>
      </p:bgPr>
    </p:bg>
    <p:spTree>
      <p:nvGrpSpPr>
        <p:cNvPr id="1" name=""/>
        <p:cNvGrpSpPr/>
        <p:nvPr/>
      </p:nvGrpSpPr>
      <p:grpSpPr>
        <a:xfrm>
          <a:off x="0" y="0"/>
          <a:ext cx="0" cy="0"/>
          <a:chOff x="0" y="0"/>
          <a:chExt cx="0" cy="0"/>
        </a:xfrm>
      </p:grpSpPr>
      <p:grpSp>
        <p:nvGrpSpPr>
          <p:cNvPr name="Group 2" id="2"/>
          <p:cNvGrpSpPr/>
          <p:nvPr/>
        </p:nvGrpSpPr>
        <p:grpSpPr>
          <a:xfrm rot="0">
            <a:off x="914697" y="793573"/>
            <a:ext cx="16458607" cy="8699854"/>
            <a:chOff x="0" y="0"/>
            <a:chExt cx="8277467" cy="4375386"/>
          </a:xfrm>
        </p:grpSpPr>
        <p:sp>
          <p:nvSpPr>
            <p:cNvPr name="Freeform 3" id="3"/>
            <p:cNvSpPr/>
            <p:nvPr/>
          </p:nvSpPr>
          <p:spPr>
            <a:xfrm flipH="false" flipV="false" rot="0">
              <a:off x="0" y="0"/>
              <a:ext cx="8277467" cy="4375386"/>
            </a:xfrm>
            <a:custGeom>
              <a:avLst/>
              <a:gdLst/>
              <a:ahLst/>
              <a:cxnLst/>
              <a:rect r="r" b="b" t="t" l="l"/>
              <a:pathLst>
                <a:path h="4375386" w="8277467">
                  <a:moveTo>
                    <a:pt x="0" y="0"/>
                  </a:moveTo>
                  <a:lnTo>
                    <a:pt x="0" y="4375386"/>
                  </a:lnTo>
                  <a:lnTo>
                    <a:pt x="8277467" y="4375386"/>
                  </a:lnTo>
                  <a:lnTo>
                    <a:pt x="8277467" y="0"/>
                  </a:lnTo>
                  <a:lnTo>
                    <a:pt x="0" y="0"/>
                  </a:lnTo>
                  <a:close/>
                  <a:moveTo>
                    <a:pt x="8216507" y="4314426"/>
                  </a:moveTo>
                  <a:lnTo>
                    <a:pt x="59690" y="4314426"/>
                  </a:lnTo>
                  <a:lnTo>
                    <a:pt x="59690" y="59690"/>
                  </a:lnTo>
                  <a:lnTo>
                    <a:pt x="8216507" y="59690"/>
                  </a:lnTo>
                  <a:lnTo>
                    <a:pt x="8216507" y="4314426"/>
                  </a:lnTo>
                  <a:close/>
                </a:path>
              </a:pathLst>
            </a:custGeom>
            <a:solidFill>
              <a:srgbClr val="B29E84"/>
            </a:solidFill>
          </p:spPr>
        </p:sp>
      </p:grpSp>
      <p:sp>
        <p:nvSpPr>
          <p:cNvPr name="AutoShape 4" id="4"/>
          <p:cNvSpPr/>
          <p:nvPr/>
        </p:nvSpPr>
        <p:spPr>
          <a:xfrm rot="0">
            <a:off x="3859684" y="-391894"/>
            <a:ext cx="10411065" cy="11070787"/>
          </a:xfrm>
          <a:prstGeom prst="rect">
            <a:avLst/>
          </a:prstGeom>
          <a:solidFill>
            <a:srgbClr val="FFFFFF"/>
          </a:solidFill>
        </p:spPr>
      </p:sp>
      <p:sp>
        <p:nvSpPr>
          <p:cNvPr name="TextBox 5" id="5"/>
          <p:cNvSpPr txBox="true"/>
          <p:nvPr/>
        </p:nvSpPr>
        <p:spPr>
          <a:xfrm rot="0">
            <a:off x="5159793" y="4553902"/>
            <a:ext cx="7810847" cy="1331595"/>
          </a:xfrm>
          <a:prstGeom prst="rect">
            <a:avLst/>
          </a:prstGeom>
        </p:spPr>
        <p:txBody>
          <a:bodyPr anchor="t" rtlCol="false" tIns="0" lIns="0" bIns="0" rIns="0">
            <a:spAutoFit/>
          </a:bodyPr>
          <a:lstStyle/>
          <a:p>
            <a:pPr algn="ctr" marL="0" indent="0" lvl="0">
              <a:lnSpc>
                <a:spcPts val="10140"/>
              </a:lnSpc>
            </a:pPr>
            <a:r>
              <a:rPr lang="en-US" sz="9750" spc="-146">
                <a:solidFill>
                  <a:srgbClr val="253439"/>
                </a:solidFill>
                <a:latin typeface="Prompt"/>
                <a:ea typeface="Prompt"/>
                <a:cs typeface="Prompt"/>
                <a:sym typeface="Prompt"/>
              </a:rPr>
              <a:t>USE CASES</a:t>
            </a:r>
          </a:p>
        </p:txBody>
      </p:sp>
    </p:spTree>
  </p:cSld>
  <p:clrMapOvr>
    <a:masterClrMapping/>
  </p:clrMapOvr>
</p:sld>
</file>

<file path=ppt/slides/slide26.xml><?xml version="1.0" encoding="utf-8"?>
<p:sld xmlns:p="http://schemas.openxmlformats.org/presentationml/2006/main" xmlns:a="http://schemas.openxmlformats.org/drawingml/2006/main">
  <p:cSld>
    <p:bg>
      <p:bgPr>
        <a:solidFill>
          <a:srgbClr val="253439"/>
        </a:solidFill>
      </p:bgPr>
    </p:bg>
    <p:spTree>
      <p:nvGrpSpPr>
        <p:cNvPr id="1" name=""/>
        <p:cNvGrpSpPr/>
        <p:nvPr/>
      </p:nvGrpSpPr>
      <p:grpSpPr>
        <a:xfrm>
          <a:off x="0" y="0"/>
          <a:ext cx="0" cy="0"/>
          <a:chOff x="0" y="0"/>
          <a:chExt cx="0" cy="0"/>
        </a:xfrm>
      </p:grpSpPr>
      <p:sp>
        <p:nvSpPr>
          <p:cNvPr name="TextBox 2" id="2"/>
          <p:cNvSpPr txBox="true"/>
          <p:nvPr/>
        </p:nvSpPr>
        <p:spPr>
          <a:xfrm rot="0">
            <a:off x="1028700" y="942975"/>
            <a:ext cx="16397981" cy="1544193"/>
          </a:xfrm>
          <a:prstGeom prst="rect">
            <a:avLst/>
          </a:prstGeom>
        </p:spPr>
        <p:txBody>
          <a:bodyPr anchor="t" rtlCol="false" tIns="0" lIns="0" bIns="0" rIns="0">
            <a:spAutoFit/>
          </a:bodyPr>
          <a:lstStyle/>
          <a:p>
            <a:pPr algn="l">
              <a:lnSpc>
                <a:spcPts val="4131"/>
              </a:lnSpc>
            </a:pPr>
            <a:r>
              <a:rPr lang="en-US" sz="2700" spc="-40">
                <a:solidFill>
                  <a:srgbClr val="FFFFFF"/>
                </a:solidFill>
                <a:latin typeface="Prompt"/>
                <a:ea typeface="Prompt"/>
                <a:cs typeface="Prompt"/>
                <a:sym typeface="Prompt"/>
              </a:rPr>
              <a:t>1. Digital Asset Management</a:t>
            </a:r>
          </a:p>
          <a:p>
            <a:pPr algn="l" marL="582930" indent="-291465" lvl="1">
              <a:lnSpc>
                <a:spcPts val="4131"/>
              </a:lnSpc>
              <a:buFont typeface="Arial"/>
              <a:buChar char="•"/>
            </a:pPr>
            <a:r>
              <a:rPr lang="en-US" sz="2700" spc="-40">
                <a:solidFill>
                  <a:srgbClr val="FFFFFF"/>
                </a:solidFill>
                <a:latin typeface="Prompt"/>
                <a:ea typeface="Prompt"/>
                <a:cs typeface="Prompt"/>
                <a:sym typeface="Prompt"/>
              </a:rPr>
              <a:t>Cryptocurrency Wallets: Automatic transfer of crypto assets to designated beneficiaries after a period of inactivity</a:t>
            </a:r>
          </a:p>
        </p:txBody>
      </p:sp>
      <p:sp>
        <p:nvSpPr>
          <p:cNvPr name="TextBox 3" id="3"/>
          <p:cNvSpPr txBox="true"/>
          <p:nvPr/>
        </p:nvSpPr>
        <p:spPr>
          <a:xfrm rot="0">
            <a:off x="1028700" y="2902783"/>
            <a:ext cx="14836260" cy="1485138"/>
          </a:xfrm>
          <a:prstGeom prst="rect">
            <a:avLst/>
          </a:prstGeom>
        </p:spPr>
        <p:txBody>
          <a:bodyPr anchor="t" rtlCol="false" tIns="0" lIns="0" bIns="0" rIns="0">
            <a:spAutoFit/>
          </a:bodyPr>
          <a:lstStyle/>
          <a:p>
            <a:pPr algn="l">
              <a:lnSpc>
                <a:spcPts val="3996"/>
              </a:lnSpc>
            </a:pPr>
            <a:r>
              <a:rPr lang="en-US" sz="2700" spc="-40">
                <a:solidFill>
                  <a:srgbClr val="FFFFFF"/>
                </a:solidFill>
                <a:latin typeface="Prompt"/>
                <a:ea typeface="Prompt"/>
                <a:cs typeface="Prompt"/>
                <a:sym typeface="Prompt"/>
              </a:rPr>
              <a:t>2</a:t>
            </a:r>
            <a:r>
              <a:rPr lang="en-US" sz="2700" spc="-40">
                <a:solidFill>
                  <a:srgbClr val="FFFFFF"/>
                </a:solidFill>
                <a:latin typeface="Prompt"/>
                <a:ea typeface="Prompt"/>
                <a:cs typeface="Prompt"/>
                <a:sym typeface="Prompt"/>
              </a:rPr>
              <a:t>. Personal Data Legacy</a:t>
            </a:r>
          </a:p>
          <a:p>
            <a:pPr algn="l" marL="582930" indent="-291465" lvl="1">
              <a:lnSpc>
                <a:spcPts val="3996"/>
              </a:lnSpc>
              <a:buFont typeface="Arial"/>
              <a:buChar char="•"/>
            </a:pPr>
            <a:r>
              <a:rPr lang="en-US" sz="2700" spc="-40">
                <a:solidFill>
                  <a:srgbClr val="FFFFFF"/>
                </a:solidFill>
                <a:latin typeface="Prompt"/>
                <a:ea typeface="Prompt"/>
                <a:cs typeface="Prompt"/>
                <a:sym typeface="Prompt"/>
              </a:rPr>
              <a:t>Social Media: Platforms like Facebook already implement memorialization features</a:t>
            </a:r>
          </a:p>
          <a:p>
            <a:pPr algn="l" marL="582930" indent="-291465" lvl="1">
              <a:lnSpc>
                <a:spcPts val="3996"/>
              </a:lnSpc>
              <a:buFont typeface="Arial"/>
              <a:buChar char="•"/>
            </a:pPr>
            <a:r>
              <a:rPr lang="en-US" sz="2700" spc="-40">
                <a:solidFill>
                  <a:srgbClr val="FFFFFF"/>
                </a:solidFill>
                <a:latin typeface="Prompt"/>
                <a:ea typeface="Prompt"/>
                <a:cs typeface="Prompt"/>
                <a:sym typeface="Prompt"/>
              </a:rPr>
              <a:t>Email/Cloud: Google's Inactive Account Manager releases data after 18 months inactivity</a:t>
            </a:r>
          </a:p>
        </p:txBody>
      </p:sp>
      <p:sp>
        <p:nvSpPr>
          <p:cNvPr name="TextBox 4" id="4"/>
          <p:cNvSpPr txBox="true"/>
          <p:nvPr/>
        </p:nvSpPr>
        <p:spPr>
          <a:xfrm rot="0">
            <a:off x="1154033" y="4787971"/>
            <a:ext cx="14315837" cy="1020318"/>
          </a:xfrm>
          <a:prstGeom prst="rect">
            <a:avLst/>
          </a:prstGeom>
        </p:spPr>
        <p:txBody>
          <a:bodyPr anchor="t" rtlCol="false" tIns="0" lIns="0" bIns="0" rIns="0">
            <a:spAutoFit/>
          </a:bodyPr>
          <a:lstStyle/>
          <a:p>
            <a:pPr algn="l">
              <a:lnSpc>
                <a:spcPts val="4131"/>
              </a:lnSpc>
            </a:pPr>
            <a:r>
              <a:rPr lang="en-US" sz="2700" spc="-40">
                <a:solidFill>
                  <a:srgbClr val="FFFFFF"/>
                </a:solidFill>
                <a:latin typeface="Prompt"/>
                <a:ea typeface="Prompt"/>
                <a:cs typeface="Prompt"/>
                <a:sym typeface="Prompt"/>
              </a:rPr>
              <a:t>3</a:t>
            </a:r>
            <a:r>
              <a:rPr lang="en-US" sz="2700" spc="-40">
                <a:solidFill>
                  <a:srgbClr val="FFFFFF"/>
                </a:solidFill>
                <a:latin typeface="Prompt"/>
                <a:ea typeface="Prompt"/>
                <a:cs typeface="Prompt"/>
                <a:sym typeface="Prompt"/>
              </a:rPr>
              <a:t>. Biometric-Integrated Systems</a:t>
            </a:r>
          </a:p>
          <a:p>
            <a:pPr algn="l" marL="582930" indent="-291465" lvl="1">
              <a:lnSpc>
                <a:spcPts val="4131"/>
              </a:lnSpc>
              <a:buFont typeface="Arial"/>
              <a:buChar char="•"/>
            </a:pPr>
            <a:r>
              <a:rPr lang="en-US" sz="2700" spc="-40">
                <a:solidFill>
                  <a:srgbClr val="FFFFFF"/>
                </a:solidFill>
                <a:latin typeface="Prompt"/>
                <a:ea typeface="Prompt"/>
                <a:cs typeface="Prompt"/>
                <a:sym typeface="Prompt"/>
              </a:rPr>
              <a:t>Health Monitoring: Triggered by cessation of vital signs (smartwatch ECG/pulse data)</a:t>
            </a:r>
          </a:p>
        </p:txBody>
      </p:sp>
      <p:sp>
        <p:nvSpPr>
          <p:cNvPr name="TextBox 5" id="5"/>
          <p:cNvSpPr txBox="true"/>
          <p:nvPr/>
        </p:nvSpPr>
        <p:spPr>
          <a:xfrm rot="0">
            <a:off x="1154033" y="6303589"/>
            <a:ext cx="12750668" cy="2284733"/>
          </a:xfrm>
          <a:prstGeom prst="rect">
            <a:avLst/>
          </a:prstGeom>
        </p:spPr>
        <p:txBody>
          <a:bodyPr anchor="t" rtlCol="false" tIns="0" lIns="0" bIns="0" rIns="0">
            <a:spAutoFit/>
          </a:bodyPr>
          <a:lstStyle/>
          <a:p>
            <a:pPr algn="l">
              <a:lnSpc>
                <a:spcPts val="3418"/>
              </a:lnSpc>
              <a:spcBef>
                <a:spcPct val="0"/>
              </a:spcBef>
            </a:pPr>
            <a:r>
              <a:rPr lang="en-US" sz="2972" spc="-44">
                <a:solidFill>
                  <a:srgbClr val="FFFFFF"/>
                </a:solidFill>
                <a:latin typeface="Prompt"/>
                <a:ea typeface="Prompt"/>
                <a:cs typeface="Prompt"/>
                <a:sym typeface="Prompt"/>
              </a:rPr>
              <a:t>4. </a:t>
            </a:r>
            <a:r>
              <a:rPr lang="en-US" sz="2972" spc="-44">
                <a:solidFill>
                  <a:srgbClr val="FFFFFF"/>
                </a:solidFill>
                <a:latin typeface="Prompt"/>
                <a:ea typeface="Prompt"/>
                <a:cs typeface="Prompt"/>
                <a:sym typeface="Prompt"/>
              </a:rPr>
              <a:t>Smart Contract Evolution</a:t>
            </a:r>
          </a:p>
          <a:p>
            <a:pPr algn="l">
              <a:lnSpc>
                <a:spcPts val="3418"/>
              </a:lnSpc>
              <a:spcBef>
                <a:spcPct val="0"/>
              </a:spcBef>
            </a:pPr>
            <a:r>
              <a:rPr lang="en-US" sz="2972" spc="-44">
                <a:solidFill>
                  <a:srgbClr val="FFFFFF"/>
                </a:solidFill>
                <a:latin typeface="Prompt"/>
                <a:ea typeface="Prompt"/>
                <a:cs typeface="Prompt"/>
                <a:sym typeface="Prompt"/>
              </a:rPr>
              <a:t>Decentralized Autonomous Organizations (DAOs):</a:t>
            </a:r>
          </a:p>
          <a:p>
            <a:pPr algn="l" marL="641721" indent="-320861" lvl="1">
              <a:lnSpc>
                <a:spcPts val="4428"/>
              </a:lnSpc>
              <a:buFont typeface="Arial"/>
              <a:buChar char="•"/>
            </a:pPr>
            <a:r>
              <a:rPr lang="en-US" sz="2972" spc="-44">
                <a:solidFill>
                  <a:srgbClr val="FFFFFF"/>
                </a:solidFill>
                <a:latin typeface="Prompt"/>
                <a:ea typeface="Prompt"/>
                <a:cs typeface="Prompt"/>
                <a:sym typeface="Prompt"/>
              </a:rPr>
              <a:t>Automatic treasury redistribution if founders disappear</a:t>
            </a:r>
          </a:p>
          <a:p>
            <a:pPr algn="l" marL="641721" indent="-320861" lvl="1">
              <a:lnSpc>
                <a:spcPts val="3418"/>
              </a:lnSpc>
              <a:buFont typeface="Arial"/>
              <a:buChar char="•"/>
            </a:pPr>
            <a:r>
              <a:rPr lang="en-US" sz="2972" spc="-44">
                <a:solidFill>
                  <a:srgbClr val="FFFFFF"/>
                </a:solidFill>
                <a:latin typeface="Prompt"/>
                <a:ea typeface="Prompt"/>
                <a:cs typeface="Prompt"/>
                <a:sym typeface="Prompt"/>
              </a:rPr>
              <a:t>Emergency protocol changes after prolonged governance inactivity</a:t>
            </a:r>
          </a:p>
          <a:p>
            <a:pPr algn="l">
              <a:lnSpc>
                <a:spcPts val="3418"/>
              </a:lnSpc>
            </a:pPr>
          </a:p>
        </p:txBody>
      </p:sp>
    </p:spTree>
  </p:cSld>
  <p:clrMapOvr>
    <a:masterClrMapping/>
  </p:clrMapOvr>
</p:sld>
</file>

<file path=ppt/slides/slide27.xml><?xml version="1.0" encoding="utf-8"?>
<p:sld xmlns:p="http://schemas.openxmlformats.org/presentationml/2006/main" xmlns:a="http://schemas.openxmlformats.org/drawingml/2006/main">
  <p:cSld>
    <p:bg>
      <p:bgPr>
        <a:solidFill>
          <a:srgbClr val="253439"/>
        </a:solidFill>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DAGvrYw_h7o</dc:identifier>
  <dcterms:modified xsi:type="dcterms:W3CDTF">2011-08-01T06:04:30Z</dcterms:modified>
  <cp:revision>1</cp:revision>
  <dc:title>Dead Man’s Switch</dc:title>
</cp:coreProperties>
</file>